
<file path=[Content_Types].xml><?xml version="1.0" encoding="utf-8"?>
<Types xmlns="http://schemas.openxmlformats.org/package/2006/content-types">
  <Default ContentType="application/x-fontdata" Extension="fntdata"/>
  <Default ContentType="image/jpeg" Extension="jpeg"/>
  <Default ContentType="audio/m4a" Extension="m4a"/>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charset="1" panose="00000500000000000000"/>
      <p:regular r:id="rId17"/>
    </p:embeddedFont>
    <p:embeddedFont>
      <p:font typeface="Montserrat" charset="1" panose="00000500000000000000"/>
      <p:regular r:id="rId18"/>
    </p:embeddedFont>
    <p:embeddedFont>
      <p:font typeface="Montserrat Bold" charset="1" panose="00000800000000000000"/>
      <p:regular r:id="rId19"/>
    </p:embeddedFont>
    <p:embeddedFont>
      <p:font typeface="Anton" charset="1" panose="00000500000000000000"/>
      <p:regular r:id="rId20"/>
    </p:embeddedFont>
    <p:embeddedFont>
      <p:font typeface="Work Sans Bold" charset="1" panose="00000000000000000000"/>
      <p:regular r:id="rId21"/>
    </p:embeddedFont>
    <p:embeddedFont>
      <p:font typeface="Work Sans" charset="1" panose="00000000000000000000"/>
      <p:regular r:id="rId22"/>
    </p:embeddedFont>
    <p:embeddedFont>
      <p:font typeface="Agrandir" charset="1" panose="00000500000000000000"/>
      <p:regular r:id="rId23"/>
    </p:embeddedFont>
    <p:embeddedFont>
      <p:font typeface="Agrandir Bold" charset="1" panose="00000800000000000000"/>
      <p:regular r:id="rId24"/>
    </p:embeddedFont>
    <p:embeddedFont>
      <p:font typeface="Pattanakarn Expanded" charset="1" panose="00000000000000000000"/>
      <p:regular r:id="rId25"/>
    </p:embeddedFont>
    <p:embeddedFont>
      <p:font typeface="Pattanakarn Expanded Bold" charset="1" panose="00000000000000000000"/>
      <p:regular r:id="rId26"/>
    </p:embeddedFont>
    <p:embeddedFont>
      <p:font typeface="Telegraf Bold" charset="1" panose="00000800000000000000"/>
      <p:regular r:id="rId27"/>
    </p:embeddedFont>
    <p:embeddedFont>
      <p:font typeface="Telegraf" charset="1" panose="000005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aAGmQHBeZbs.m4a" Type="http://schemas.microsoft.com/office/2007/relationships/media"/><Relationship Id="rId4" Target="../media/aAGmQHBeZbs.m4a" Type="http://schemas.openxmlformats.org/officeDocument/2006/relationships/audio"/></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533107" y="9258300"/>
            <a:ext cx="1714493" cy="3035687"/>
            <a:chOff x="0" y="0"/>
            <a:chExt cx="451554" cy="799522"/>
          </a:xfrm>
        </p:grpSpPr>
        <p:sp>
          <p:nvSpPr>
            <p:cNvPr name="Freeform 3" id="3"/>
            <p:cNvSpPr/>
            <p:nvPr/>
          </p:nvSpPr>
          <p:spPr>
            <a:xfrm flipH="false" flipV="false" rot="0">
              <a:off x="0" y="0"/>
              <a:ext cx="451554" cy="799522"/>
            </a:xfrm>
            <a:custGeom>
              <a:avLst/>
              <a:gdLst/>
              <a:ahLst/>
              <a:cxnLst/>
              <a:rect r="r" b="b" t="t" l="l"/>
              <a:pathLst>
                <a:path h="799522" w="451554">
                  <a:moveTo>
                    <a:pt x="0" y="0"/>
                  </a:moveTo>
                  <a:lnTo>
                    <a:pt x="451554" y="0"/>
                  </a:lnTo>
                  <a:lnTo>
                    <a:pt x="451554" y="799522"/>
                  </a:lnTo>
                  <a:lnTo>
                    <a:pt x="0" y="799522"/>
                  </a:lnTo>
                  <a:close/>
                </a:path>
              </a:pathLst>
            </a:custGeom>
            <a:gradFill rotWithShape="true">
              <a:gsLst>
                <a:gs pos="0">
                  <a:srgbClr val="000000">
                    <a:alpha val="100000"/>
                  </a:srgbClr>
                </a:gs>
                <a:gs pos="100000">
                  <a:srgbClr val="EE581E">
                    <a:alpha val="100000"/>
                  </a:srgbClr>
                </a:gs>
              </a:gsLst>
              <a:lin ang="5400000"/>
            </a:gradFill>
          </p:spPr>
        </p:sp>
        <p:sp>
          <p:nvSpPr>
            <p:cNvPr name="TextBox 4" id="4"/>
            <p:cNvSpPr txBox="true"/>
            <p:nvPr/>
          </p:nvSpPr>
          <p:spPr>
            <a:xfrm>
              <a:off x="0" y="47625"/>
              <a:ext cx="451554" cy="751897"/>
            </a:xfrm>
            <a:prstGeom prst="rect">
              <a:avLst/>
            </a:prstGeom>
          </p:spPr>
          <p:txBody>
            <a:bodyPr anchor="ctr" rtlCol="false" tIns="50800" lIns="50800" bIns="50800" rIns="50800"/>
            <a:lstStyle/>
            <a:p>
              <a:pPr algn="ctr">
                <a:lnSpc>
                  <a:spcPts val="1200"/>
                </a:lnSpc>
              </a:pPr>
            </a:p>
          </p:txBody>
        </p:sp>
      </p:grpSp>
      <p:grpSp>
        <p:nvGrpSpPr>
          <p:cNvPr name="Group 5" id="5"/>
          <p:cNvGrpSpPr/>
          <p:nvPr/>
        </p:nvGrpSpPr>
        <p:grpSpPr>
          <a:xfrm rot="0">
            <a:off x="9659340" y="9104463"/>
            <a:ext cx="1802984" cy="2687529"/>
            <a:chOff x="0" y="0"/>
            <a:chExt cx="474860" cy="707827"/>
          </a:xfrm>
        </p:grpSpPr>
        <p:sp>
          <p:nvSpPr>
            <p:cNvPr name="Freeform 6" id="6"/>
            <p:cNvSpPr/>
            <p:nvPr/>
          </p:nvSpPr>
          <p:spPr>
            <a:xfrm flipH="false" flipV="false" rot="0">
              <a:off x="0" y="0"/>
              <a:ext cx="474860" cy="707827"/>
            </a:xfrm>
            <a:custGeom>
              <a:avLst/>
              <a:gdLst/>
              <a:ahLst/>
              <a:cxnLst/>
              <a:rect r="r" b="b" t="t" l="l"/>
              <a:pathLst>
                <a:path h="707827" w="474860">
                  <a:moveTo>
                    <a:pt x="0" y="0"/>
                  </a:moveTo>
                  <a:lnTo>
                    <a:pt x="474860" y="0"/>
                  </a:lnTo>
                  <a:lnTo>
                    <a:pt x="474860" y="707827"/>
                  </a:lnTo>
                  <a:lnTo>
                    <a:pt x="0" y="707827"/>
                  </a:lnTo>
                  <a:close/>
                </a:path>
              </a:pathLst>
            </a:custGeom>
            <a:gradFill rotWithShape="true">
              <a:gsLst>
                <a:gs pos="0">
                  <a:srgbClr val="000000">
                    <a:alpha val="100000"/>
                  </a:srgbClr>
                </a:gs>
                <a:gs pos="100000">
                  <a:srgbClr val="EE581E">
                    <a:alpha val="100000"/>
                  </a:srgbClr>
                </a:gs>
              </a:gsLst>
              <a:lin ang="5400000"/>
            </a:gradFill>
          </p:spPr>
        </p:sp>
        <p:sp>
          <p:nvSpPr>
            <p:cNvPr name="TextBox 7" id="7"/>
            <p:cNvSpPr txBox="true"/>
            <p:nvPr/>
          </p:nvSpPr>
          <p:spPr>
            <a:xfrm>
              <a:off x="0" y="47625"/>
              <a:ext cx="474860" cy="660202"/>
            </a:xfrm>
            <a:prstGeom prst="rect">
              <a:avLst/>
            </a:prstGeom>
          </p:spPr>
          <p:txBody>
            <a:bodyPr anchor="ctr" rtlCol="false" tIns="50800" lIns="50800" bIns="50800" rIns="50800"/>
            <a:lstStyle/>
            <a:p>
              <a:pPr algn="ctr">
                <a:lnSpc>
                  <a:spcPts val="1200"/>
                </a:lnSpc>
              </a:pPr>
            </a:p>
          </p:txBody>
        </p:sp>
      </p:grpSp>
      <p:grpSp>
        <p:nvGrpSpPr>
          <p:cNvPr name="Group 8" id="8"/>
          <p:cNvGrpSpPr/>
          <p:nvPr/>
        </p:nvGrpSpPr>
        <p:grpSpPr>
          <a:xfrm rot="0">
            <a:off x="7131759" y="9102004"/>
            <a:ext cx="1512092" cy="2686135"/>
            <a:chOff x="0" y="0"/>
            <a:chExt cx="398246" cy="707459"/>
          </a:xfrm>
        </p:grpSpPr>
        <p:sp>
          <p:nvSpPr>
            <p:cNvPr name="Freeform 9" id="9"/>
            <p:cNvSpPr/>
            <p:nvPr/>
          </p:nvSpPr>
          <p:spPr>
            <a:xfrm flipH="false" flipV="false" rot="0">
              <a:off x="0" y="0"/>
              <a:ext cx="398246" cy="707459"/>
            </a:xfrm>
            <a:custGeom>
              <a:avLst/>
              <a:gdLst/>
              <a:ahLst/>
              <a:cxnLst/>
              <a:rect r="r" b="b" t="t" l="l"/>
              <a:pathLst>
                <a:path h="707459" w="398246">
                  <a:moveTo>
                    <a:pt x="0" y="0"/>
                  </a:moveTo>
                  <a:lnTo>
                    <a:pt x="398246" y="0"/>
                  </a:lnTo>
                  <a:lnTo>
                    <a:pt x="398246" y="707459"/>
                  </a:lnTo>
                  <a:lnTo>
                    <a:pt x="0" y="707459"/>
                  </a:lnTo>
                  <a:close/>
                </a:path>
              </a:pathLst>
            </a:custGeom>
            <a:gradFill rotWithShape="true">
              <a:gsLst>
                <a:gs pos="0">
                  <a:srgbClr val="000000">
                    <a:alpha val="100000"/>
                  </a:srgbClr>
                </a:gs>
                <a:gs pos="100000">
                  <a:srgbClr val="EE581E">
                    <a:alpha val="100000"/>
                  </a:srgbClr>
                </a:gs>
              </a:gsLst>
              <a:lin ang="5400000"/>
            </a:gradFill>
          </p:spPr>
        </p:sp>
        <p:sp>
          <p:nvSpPr>
            <p:cNvPr name="TextBox 10" id="10"/>
            <p:cNvSpPr txBox="true"/>
            <p:nvPr/>
          </p:nvSpPr>
          <p:spPr>
            <a:xfrm>
              <a:off x="0" y="47625"/>
              <a:ext cx="398246" cy="659834"/>
            </a:xfrm>
            <a:prstGeom prst="rect">
              <a:avLst/>
            </a:prstGeom>
          </p:spPr>
          <p:txBody>
            <a:bodyPr anchor="ctr" rtlCol="false" tIns="50800" lIns="50800" bIns="50800" rIns="50800"/>
            <a:lstStyle/>
            <a:p>
              <a:pPr algn="ctr">
                <a:lnSpc>
                  <a:spcPts val="1200"/>
                </a:lnSpc>
              </a:pPr>
            </a:p>
          </p:txBody>
        </p:sp>
      </p:grpSp>
      <p:grpSp>
        <p:nvGrpSpPr>
          <p:cNvPr name="Group 11" id="11"/>
          <p:cNvGrpSpPr/>
          <p:nvPr/>
        </p:nvGrpSpPr>
        <p:grpSpPr>
          <a:xfrm rot="0">
            <a:off x="5730412" y="8434232"/>
            <a:ext cx="1714493" cy="2686135"/>
            <a:chOff x="0" y="0"/>
            <a:chExt cx="451554" cy="707459"/>
          </a:xfrm>
        </p:grpSpPr>
        <p:sp>
          <p:nvSpPr>
            <p:cNvPr name="Freeform 12" id="12"/>
            <p:cNvSpPr/>
            <p:nvPr/>
          </p:nvSpPr>
          <p:spPr>
            <a:xfrm flipH="false" flipV="false" rot="0">
              <a:off x="0" y="0"/>
              <a:ext cx="451554" cy="707459"/>
            </a:xfrm>
            <a:custGeom>
              <a:avLst/>
              <a:gdLst/>
              <a:ahLst/>
              <a:cxnLst/>
              <a:rect r="r" b="b" t="t" l="l"/>
              <a:pathLst>
                <a:path h="707459" w="451554">
                  <a:moveTo>
                    <a:pt x="0" y="0"/>
                  </a:moveTo>
                  <a:lnTo>
                    <a:pt x="451554" y="0"/>
                  </a:lnTo>
                  <a:lnTo>
                    <a:pt x="451554" y="707459"/>
                  </a:lnTo>
                  <a:lnTo>
                    <a:pt x="0" y="707459"/>
                  </a:lnTo>
                  <a:close/>
                </a:path>
              </a:pathLst>
            </a:custGeom>
            <a:gradFill rotWithShape="true">
              <a:gsLst>
                <a:gs pos="0">
                  <a:srgbClr val="000000">
                    <a:alpha val="100000"/>
                  </a:srgbClr>
                </a:gs>
                <a:gs pos="100000">
                  <a:srgbClr val="EE581E">
                    <a:alpha val="100000"/>
                  </a:srgbClr>
                </a:gs>
              </a:gsLst>
              <a:lin ang="5400000"/>
            </a:gradFill>
          </p:spPr>
        </p:sp>
        <p:sp>
          <p:nvSpPr>
            <p:cNvPr name="TextBox 13" id="13"/>
            <p:cNvSpPr txBox="true"/>
            <p:nvPr/>
          </p:nvSpPr>
          <p:spPr>
            <a:xfrm>
              <a:off x="0" y="47625"/>
              <a:ext cx="451554" cy="659834"/>
            </a:xfrm>
            <a:prstGeom prst="rect">
              <a:avLst/>
            </a:prstGeom>
          </p:spPr>
          <p:txBody>
            <a:bodyPr anchor="ctr" rtlCol="false" tIns="50800" lIns="50800" bIns="50800" rIns="50800"/>
            <a:lstStyle/>
            <a:p>
              <a:pPr algn="ctr">
                <a:lnSpc>
                  <a:spcPts val="1200"/>
                </a:lnSpc>
              </a:pPr>
            </a:p>
          </p:txBody>
        </p:sp>
      </p:grpSp>
      <p:grpSp>
        <p:nvGrpSpPr>
          <p:cNvPr name="Group 14" id="14"/>
          <p:cNvGrpSpPr/>
          <p:nvPr/>
        </p:nvGrpSpPr>
        <p:grpSpPr>
          <a:xfrm rot="0">
            <a:off x="4264741" y="7761396"/>
            <a:ext cx="1714493" cy="2686135"/>
            <a:chOff x="0" y="0"/>
            <a:chExt cx="451554" cy="707459"/>
          </a:xfrm>
        </p:grpSpPr>
        <p:sp>
          <p:nvSpPr>
            <p:cNvPr name="Freeform 15" id="15"/>
            <p:cNvSpPr/>
            <p:nvPr/>
          </p:nvSpPr>
          <p:spPr>
            <a:xfrm flipH="false" flipV="false" rot="0">
              <a:off x="0" y="0"/>
              <a:ext cx="451554" cy="707459"/>
            </a:xfrm>
            <a:custGeom>
              <a:avLst/>
              <a:gdLst/>
              <a:ahLst/>
              <a:cxnLst/>
              <a:rect r="r" b="b" t="t" l="l"/>
              <a:pathLst>
                <a:path h="707459" w="451554">
                  <a:moveTo>
                    <a:pt x="0" y="0"/>
                  </a:moveTo>
                  <a:lnTo>
                    <a:pt x="451554" y="0"/>
                  </a:lnTo>
                  <a:lnTo>
                    <a:pt x="451554" y="707459"/>
                  </a:lnTo>
                  <a:lnTo>
                    <a:pt x="0" y="707459"/>
                  </a:lnTo>
                  <a:close/>
                </a:path>
              </a:pathLst>
            </a:custGeom>
            <a:gradFill rotWithShape="true">
              <a:gsLst>
                <a:gs pos="0">
                  <a:srgbClr val="000000">
                    <a:alpha val="100000"/>
                  </a:srgbClr>
                </a:gs>
                <a:gs pos="100000">
                  <a:srgbClr val="EE581E">
                    <a:alpha val="100000"/>
                  </a:srgbClr>
                </a:gs>
              </a:gsLst>
              <a:lin ang="5400000"/>
            </a:gradFill>
          </p:spPr>
        </p:sp>
        <p:sp>
          <p:nvSpPr>
            <p:cNvPr name="TextBox 16" id="16"/>
            <p:cNvSpPr txBox="true"/>
            <p:nvPr/>
          </p:nvSpPr>
          <p:spPr>
            <a:xfrm>
              <a:off x="0" y="47625"/>
              <a:ext cx="451554" cy="659834"/>
            </a:xfrm>
            <a:prstGeom prst="rect">
              <a:avLst/>
            </a:prstGeom>
          </p:spPr>
          <p:txBody>
            <a:bodyPr anchor="ctr" rtlCol="false" tIns="50800" lIns="50800" bIns="50800" rIns="50800"/>
            <a:lstStyle/>
            <a:p>
              <a:pPr algn="ctr">
                <a:lnSpc>
                  <a:spcPts val="1200"/>
                </a:lnSpc>
              </a:pPr>
            </a:p>
          </p:txBody>
        </p:sp>
      </p:grpSp>
      <p:grpSp>
        <p:nvGrpSpPr>
          <p:cNvPr name="Group 17" id="17"/>
          <p:cNvGrpSpPr/>
          <p:nvPr/>
        </p:nvGrpSpPr>
        <p:grpSpPr>
          <a:xfrm rot="0">
            <a:off x="2863393" y="6734175"/>
            <a:ext cx="1714493" cy="3714750"/>
            <a:chOff x="0" y="0"/>
            <a:chExt cx="451554" cy="978370"/>
          </a:xfrm>
        </p:grpSpPr>
        <p:sp>
          <p:nvSpPr>
            <p:cNvPr name="Freeform 18" id="18"/>
            <p:cNvSpPr/>
            <p:nvPr/>
          </p:nvSpPr>
          <p:spPr>
            <a:xfrm flipH="false" flipV="false" rot="0">
              <a:off x="0" y="0"/>
              <a:ext cx="451554" cy="978370"/>
            </a:xfrm>
            <a:custGeom>
              <a:avLst/>
              <a:gdLst/>
              <a:ahLst/>
              <a:cxnLst/>
              <a:rect r="r" b="b" t="t" l="l"/>
              <a:pathLst>
                <a:path h="978370" w="451554">
                  <a:moveTo>
                    <a:pt x="0" y="0"/>
                  </a:moveTo>
                  <a:lnTo>
                    <a:pt x="451554" y="0"/>
                  </a:lnTo>
                  <a:lnTo>
                    <a:pt x="451554" y="978370"/>
                  </a:lnTo>
                  <a:lnTo>
                    <a:pt x="0" y="978370"/>
                  </a:lnTo>
                  <a:close/>
                </a:path>
              </a:pathLst>
            </a:custGeom>
            <a:gradFill rotWithShape="true">
              <a:gsLst>
                <a:gs pos="0">
                  <a:srgbClr val="000000">
                    <a:alpha val="100000"/>
                  </a:srgbClr>
                </a:gs>
                <a:gs pos="100000">
                  <a:srgbClr val="EE581E">
                    <a:alpha val="100000"/>
                  </a:srgbClr>
                </a:gs>
              </a:gsLst>
              <a:lin ang="5400000"/>
            </a:gradFill>
          </p:spPr>
        </p:sp>
        <p:sp>
          <p:nvSpPr>
            <p:cNvPr name="TextBox 19" id="19"/>
            <p:cNvSpPr txBox="true"/>
            <p:nvPr/>
          </p:nvSpPr>
          <p:spPr>
            <a:xfrm>
              <a:off x="0" y="47625"/>
              <a:ext cx="451554" cy="930745"/>
            </a:xfrm>
            <a:prstGeom prst="rect">
              <a:avLst/>
            </a:prstGeom>
          </p:spPr>
          <p:txBody>
            <a:bodyPr anchor="ctr" rtlCol="false" tIns="50800" lIns="50800" bIns="50800" rIns="50800"/>
            <a:lstStyle/>
            <a:p>
              <a:pPr algn="ctr">
                <a:lnSpc>
                  <a:spcPts val="1200"/>
                </a:lnSpc>
              </a:pPr>
            </a:p>
          </p:txBody>
        </p:sp>
      </p:grpSp>
      <p:grpSp>
        <p:nvGrpSpPr>
          <p:cNvPr name="Group 20" id="20"/>
          <p:cNvGrpSpPr/>
          <p:nvPr/>
        </p:nvGrpSpPr>
        <p:grpSpPr>
          <a:xfrm rot="0">
            <a:off x="1401348" y="5709210"/>
            <a:ext cx="1714493" cy="4737256"/>
            <a:chOff x="0" y="0"/>
            <a:chExt cx="451554" cy="1247672"/>
          </a:xfrm>
        </p:grpSpPr>
        <p:sp>
          <p:nvSpPr>
            <p:cNvPr name="Freeform 21" id="21"/>
            <p:cNvSpPr/>
            <p:nvPr/>
          </p:nvSpPr>
          <p:spPr>
            <a:xfrm flipH="false" flipV="false" rot="0">
              <a:off x="0" y="0"/>
              <a:ext cx="451554" cy="1247672"/>
            </a:xfrm>
            <a:custGeom>
              <a:avLst/>
              <a:gdLst/>
              <a:ahLst/>
              <a:cxnLst/>
              <a:rect r="r" b="b" t="t" l="l"/>
              <a:pathLst>
                <a:path h="1247672" w="451554">
                  <a:moveTo>
                    <a:pt x="0" y="0"/>
                  </a:moveTo>
                  <a:lnTo>
                    <a:pt x="451554" y="0"/>
                  </a:lnTo>
                  <a:lnTo>
                    <a:pt x="451554" y="1247672"/>
                  </a:lnTo>
                  <a:lnTo>
                    <a:pt x="0" y="1247672"/>
                  </a:lnTo>
                  <a:close/>
                </a:path>
              </a:pathLst>
            </a:custGeom>
            <a:gradFill rotWithShape="true">
              <a:gsLst>
                <a:gs pos="0">
                  <a:srgbClr val="000000">
                    <a:alpha val="100000"/>
                  </a:srgbClr>
                </a:gs>
                <a:gs pos="100000">
                  <a:srgbClr val="EE581E">
                    <a:alpha val="100000"/>
                  </a:srgbClr>
                </a:gs>
              </a:gsLst>
              <a:lin ang="5400000"/>
            </a:gradFill>
          </p:spPr>
        </p:sp>
        <p:sp>
          <p:nvSpPr>
            <p:cNvPr name="TextBox 22" id="22"/>
            <p:cNvSpPr txBox="true"/>
            <p:nvPr/>
          </p:nvSpPr>
          <p:spPr>
            <a:xfrm>
              <a:off x="0" y="47625"/>
              <a:ext cx="451554" cy="1200047"/>
            </a:xfrm>
            <a:prstGeom prst="rect">
              <a:avLst/>
            </a:prstGeom>
          </p:spPr>
          <p:txBody>
            <a:bodyPr anchor="ctr" rtlCol="false" tIns="50800" lIns="50800" bIns="50800" rIns="50800"/>
            <a:lstStyle/>
            <a:p>
              <a:pPr algn="ctr">
                <a:lnSpc>
                  <a:spcPts val="1200"/>
                </a:lnSpc>
              </a:pPr>
            </a:p>
          </p:txBody>
        </p:sp>
      </p:grpSp>
      <p:grpSp>
        <p:nvGrpSpPr>
          <p:cNvPr name="Group 23" id="23"/>
          <p:cNvGrpSpPr/>
          <p:nvPr/>
        </p:nvGrpSpPr>
        <p:grpSpPr>
          <a:xfrm rot="0">
            <a:off x="0" y="3897608"/>
            <a:ext cx="1714493" cy="6551317"/>
            <a:chOff x="0" y="0"/>
            <a:chExt cx="451554" cy="1725450"/>
          </a:xfrm>
        </p:grpSpPr>
        <p:sp>
          <p:nvSpPr>
            <p:cNvPr name="Freeform 24" id="24"/>
            <p:cNvSpPr/>
            <p:nvPr/>
          </p:nvSpPr>
          <p:spPr>
            <a:xfrm flipH="false" flipV="false" rot="0">
              <a:off x="0" y="0"/>
              <a:ext cx="451554" cy="1725450"/>
            </a:xfrm>
            <a:custGeom>
              <a:avLst/>
              <a:gdLst/>
              <a:ahLst/>
              <a:cxnLst/>
              <a:rect r="r" b="b" t="t" l="l"/>
              <a:pathLst>
                <a:path h="1725450" w="451554">
                  <a:moveTo>
                    <a:pt x="0" y="0"/>
                  </a:moveTo>
                  <a:lnTo>
                    <a:pt x="451554" y="0"/>
                  </a:lnTo>
                  <a:lnTo>
                    <a:pt x="451554" y="1725450"/>
                  </a:lnTo>
                  <a:lnTo>
                    <a:pt x="0" y="1725450"/>
                  </a:lnTo>
                  <a:close/>
                </a:path>
              </a:pathLst>
            </a:custGeom>
            <a:gradFill rotWithShape="true">
              <a:gsLst>
                <a:gs pos="0">
                  <a:srgbClr val="000000">
                    <a:alpha val="100000"/>
                  </a:srgbClr>
                </a:gs>
                <a:gs pos="100000">
                  <a:srgbClr val="EE581E">
                    <a:alpha val="100000"/>
                  </a:srgbClr>
                </a:gs>
              </a:gsLst>
              <a:lin ang="5400000"/>
            </a:gradFill>
          </p:spPr>
        </p:sp>
        <p:sp>
          <p:nvSpPr>
            <p:cNvPr name="TextBox 25" id="25"/>
            <p:cNvSpPr txBox="true"/>
            <p:nvPr/>
          </p:nvSpPr>
          <p:spPr>
            <a:xfrm>
              <a:off x="0" y="47625"/>
              <a:ext cx="451554" cy="1677825"/>
            </a:xfrm>
            <a:prstGeom prst="rect">
              <a:avLst/>
            </a:prstGeom>
          </p:spPr>
          <p:txBody>
            <a:bodyPr anchor="ctr" rtlCol="false" tIns="50800" lIns="50800" bIns="50800" rIns="50800"/>
            <a:lstStyle/>
            <a:p>
              <a:pPr algn="ctr">
                <a:lnSpc>
                  <a:spcPts val="1200"/>
                </a:lnSpc>
              </a:pPr>
            </a:p>
          </p:txBody>
        </p:sp>
      </p:grpSp>
      <p:grpSp>
        <p:nvGrpSpPr>
          <p:cNvPr name="Group 26" id="26"/>
          <p:cNvGrpSpPr/>
          <p:nvPr/>
        </p:nvGrpSpPr>
        <p:grpSpPr>
          <a:xfrm rot="0">
            <a:off x="10892372" y="8387528"/>
            <a:ext cx="1714493" cy="2686135"/>
            <a:chOff x="0" y="0"/>
            <a:chExt cx="451554" cy="707459"/>
          </a:xfrm>
        </p:grpSpPr>
        <p:sp>
          <p:nvSpPr>
            <p:cNvPr name="Freeform 27" id="27"/>
            <p:cNvSpPr/>
            <p:nvPr/>
          </p:nvSpPr>
          <p:spPr>
            <a:xfrm flipH="false" flipV="false" rot="0">
              <a:off x="0" y="0"/>
              <a:ext cx="451554" cy="707459"/>
            </a:xfrm>
            <a:custGeom>
              <a:avLst/>
              <a:gdLst/>
              <a:ahLst/>
              <a:cxnLst/>
              <a:rect r="r" b="b" t="t" l="l"/>
              <a:pathLst>
                <a:path h="707459" w="451554">
                  <a:moveTo>
                    <a:pt x="0" y="0"/>
                  </a:moveTo>
                  <a:lnTo>
                    <a:pt x="451554" y="0"/>
                  </a:lnTo>
                  <a:lnTo>
                    <a:pt x="451554" y="707459"/>
                  </a:lnTo>
                  <a:lnTo>
                    <a:pt x="0" y="707459"/>
                  </a:lnTo>
                  <a:close/>
                </a:path>
              </a:pathLst>
            </a:custGeom>
            <a:gradFill rotWithShape="true">
              <a:gsLst>
                <a:gs pos="0">
                  <a:srgbClr val="000000">
                    <a:alpha val="100000"/>
                  </a:srgbClr>
                </a:gs>
                <a:gs pos="100000">
                  <a:srgbClr val="EE581E">
                    <a:alpha val="100000"/>
                  </a:srgbClr>
                </a:gs>
              </a:gsLst>
              <a:lin ang="5400000"/>
            </a:gradFill>
          </p:spPr>
        </p:sp>
        <p:sp>
          <p:nvSpPr>
            <p:cNvPr name="TextBox 28" id="28"/>
            <p:cNvSpPr txBox="true"/>
            <p:nvPr/>
          </p:nvSpPr>
          <p:spPr>
            <a:xfrm>
              <a:off x="0" y="47625"/>
              <a:ext cx="451554" cy="659834"/>
            </a:xfrm>
            <a:prstGeom prst="rect">
              <a:avLst/>
            </a:prstGeom>
          </p:spPr>
          <p:txBody>
            <a:bodyPr anchor="ctr" rtlCol="false" tIns="50800" lIns="50800" bIns="50800" rIns="50800"/>
            <a:lstStyle/>
            <a:p>
              <a:pPr algn="ctr">
                <a:lnSpc>
                  <a:spcPts val="1200"/>
                </a:lnSpc>
              </a:pPr>
            </a:p>
          </p:txBody>
        </p:sp>
      </p:grpSp>
      <p:grpSp>
        <p:nvGrpSpPr>
          <p:cNvPr name="Group 29" id="29"/>
          <p:cNvGrpSpPr/>
          <p:nvPr/>
        </p:nvGrpSpPr>
        <p:grpSpPr>
          <a:xfrm rot="0">
            <a:off x="12363902" y="7758937"/>
            <a:ext cx="1714493" cy="2686135"/>
            <a:chOff x="0" y="0"/>
            <a:chExt cx="451554" cy="707459"/>
          </a:xfrm>
        </p:grpSpPr>
        <p:sp>
          <p:nvSpPr>
            <p:cNvPr name="Freeform 30" id="30"/>
            <p:cNvSpPr/>
            <p:nvPr/>
          </p:nvSpPr>
          <p:spPr>
            <a:xfrm flipH="false" flipV="false" rot="0">
              <a:off x="0" y="0"/>
              <a:ext cx="451554" cy="707459"/>
            </a:xfrm>
            <a:custGeom>
              <a:avLst/>
              <a:gdLst/>
              <a:ahLst/>
              <a:cxnLst/>
              <a:rect r="r" b="b" t="t" l="l"/>
              <a:pathLst>
                <a:path h="707459" w="451554">
                  <a:moveTo>
                    <a:pt x="0" y="0"/>
                  </a:moveTo>
                  <a:lnTo>
                    <a:pt x="451554" y="0"/>
                  </a:lnTo>
                  <a:lnTo>
                    <a:pt x="451554" y="707459"/>
                  </a:lnTo>
                  <a:lnTo>
                    <a:pt x="0" y="707459"/>
                  </a:lnTo>
                  <a:close/>
                </a:path>
              </a:pathLst>
            </a:custGeom>
            <a:gradFill rotWithShape="true">
              <a:gsLst>
                <a:gs pos="0">
                  <a:srgbClr val="000000">
                    <a:alpha val="100000"/>
                  </a:srgbClr>
                </a:gs>
                <a:gs pos="100000">
                  <a:srgbClr val="EE581E">
                    <a:alpha val="100000"/>
                  </a:srgbClr>
                </a:gs>
              </a:gsLst>
              <a:lin ang="5400000"/>
            </a:gradFill>
          </p:spPr>
        </p:sp>
        <p:sp>
          <p:nvSpPr>
            <p:cNvPr name="TextBox 31" id="31"/>
            <p:cNvSpPr txBox="true"/>
            <p:nvPr/>
          </p:nvSpPr>
          <p:spPr>
            <a:xfrm>
              <a:off x="0" y="47625"/>
              <a:ext cx="451554" cy="659834"/>
            </a:xfrm>
            <a:prstGeom prst="rect">
              <a:avLst/>
            </a:prstGeom>
          </p:spPr>
          <p:txBody>
            <a:bodyPr anchor="ctr" rtlCol="false" tIns="50800" lIns="50800" bIns="50800" rIns="50800"/>
            <a:lstStyle/>
            <a:p>
              <a:pPr algn="ctr">
                <a:lnSpc>
                  <a:spcPts val="1200"/>
                </a:lnSpc>
              </a:pPr>
            </a:p>
          </p:txBody>
        </p:sp>
      </p:grpSp>
      <p:grpSp>
        <p:nvGrpSpPr>
          <p:cNvPr name="Group 32" id="32"/>
          <p:cNvGrpSpPr/>
          <p:nvPr/>
        </p:nvGrpSpPr>
        <p:grpSpPr>
          <a:xfrm rot="0">
            <a:off x="13819925" y="6731716"/>
            <a:ext cx="1714493" cy="3714750"/>
            <a:chOff x="0" y="0"/>
            <a:chExt cx="451554" cy="978370"/>
          </a:xfrm>
        </p:grpSpPr>
        <p:sp>
          <p:nvSpPr>
            <p:cNvPr name="Freeform 33" id="33"/>
            <p:cNvSpPr/>
            <p:nvPr/>
          </p:nvSpPr>
          <p:spPr>
            <a:xfrm flipH="false" flipV="false" rot="0">
              <a:off x="0" y="0"/>
              <a:ext cx="451554" cy="978370"/>
            </a:xfrm>
            <a:custGeom>
              <a:avLst/>
              <a:gdLst/>
              <a:ahLst/>
              <a:cxnLst/>
              <a:rect r="r" b="b" t="t" l="l"/>
              <a:pathLst>
                <a:path h="978370" w="451554">
                  <a:moveTo>
                    <a:pt x="0" y="0"/>
                  </a:moveTo>
                  <a:lnTo>
                    <a:pt x="451554" y="0"/>
                  </a:lnTo>
                  <a:lnTo>
                    <a:pt x="451554" y="978370"/>
                  </a:lnTo>
                  <a:lnTo>
                    <a:pt x="0" y="978370"/>
                  </a:lnTo>
                  <a:close/>
                </a:path>
              </a:pathLst>
            </a:custGeom>
            <a:gradFill rotWithShape="true">
              <a:gsLst>
                <a:gs pos="0">
                  <a:srgbClr val="000000">
                    <a:alpha val="100000"/>
                  </a:srgbClr>
                </a:gs>
                <a:gs pos="100000">
                  <a:srgbClr val="EE581E">
                    <a:alpha val="100000"/>
                  </a:srgbClr>
                </a:gs>
              </a:gsLst>
              <a:lin ang="5400000"/>
            </a:gradFill>
          </p:spPr>
        </p:sp>
        <p:sp>
          <p:nvSpPr>
            <p:cNvPr name="TextBox 34" id="34"/>
            <p:cNvSpPr txBox="true"/>
            <p:nvPr/>
          </p:nvSpPr>
          <p:spPr>
            <a:xfrm>
              <a:off x="0" y="47625"/>
              <a:ext cx="451554" cy="930745"/>
            </a:xfrm>
            <a:prstGeom prst="rect">
              <a:avLst/>
            </a:prstGeom>
          </p:spPr>
          <p:txBody>
            <a:bodyPr anchor="ctr" rtlCol="false" tIns="50800" lIns="50800" bIns="50800" rIns="50800"/>
            <a:lstStyle/>
            <a:p>
              <a:pPr algn="ctr">
                <a:lnSpc>
                  <a:spcPts val="1200"/>
                </a:lnSpc>
              </a:pPr>
            </a:p>
          </p:txBody>
        </p:sp>
      </p:grpSp>
      <p:grpSp>
        <p:nvGrpSpPr>
          <p:cNvPr name="Group 35" id="35"/>
          <p:cNvGrpSpPr/>
          <p:nvPr/>
        </p:nvGrpSpPr>
        <p:grpSpPr>
          <a:xfrm rot="0">
            <a:off x="15146916" y="5711669"/>
            <a:ext cx="1714493" cy="4737256"/>
            <a:chOff x="0" y="0"/>
            <a:chExt cx="451554" cy="1247672"/>
          </a:xfrm>
        </p:grpSpPr>
        <p:sp>
          <p:nvSpPr>
            <p:cNvPr name="Freeform 36" id="36"/>
            <p:cNvSpPr/>
            <p:nvPr/>
          </p:nvSpPr>
          <p:spPr>
            <a:xfrm flipH="false" flipV="false" rot="0">
              <a:off x="0" y="0"/>
              <a:ext cx="451554" cy="1247672"/>
            </a:xfrm>
            <a:custGeom>
              <a:avLst/>
              <a:gdLst/>
              <a:ahLst/>
              <a:cxnLst/>
              <a:rect r="r" b="b" t="t" l="l"/>
              <a:pathLst>
                <a:path h="1247672" w="451554">
                  <a:moveTo>
                    <a:pt x="0" y="0"/>
                  </a:moveTo>
                  <a:lnTo>
                    <a:pt x="451554" y="0"/>
                  </a:lnTo>
                  <a:lnTo>
                    <a:pt x="451554" y="1247672"/>
                  </a:lnTo>
                  <a:lnTo>
                    <a:pt x="0" y="1247672"/>
                  </a:lnTo>
                  <a:close/>
                </a:path>
              </a:pathLst>
            </a:custGeom>
            <a:gradFill rotWithShape="true">
              <a:gsLst>
                <a:gs pos="0">
                  <a:srgbClr val="000000">
                    <a:alpha val="100000"/>
                  </a:srgbClr>
                </a:gs>
                <a:gs pos="100000">
                  <a:srgbClr val="EE581E">
                    <a:alpha val="100000"/>
                  </a:srgbClr>
                </a:gs>
              </a:gsLst>
              <a:lin ang="5400000"/>
            </a:gradFill>
          </p:spPr>
        </p:sp>
        <p:sp>
          <p:nvSpPr>
            <p:cNvPr name="TextBox 37" id="37"/>
            <p:cNvSpPr txBox="true"/>
            <p:nvPr/>
          </p:nvSpPr>
          <p:spPr>
            <a:xfrm>
              <a:off x="0" y="47625"/>
              <a:ext cx="451554" cy="1200047"/>
            </a:xfrm>
            <a:prstGeom prst="rect">
              <a:avLst/>
            </a:prstGeom>
          </p:spPr>
          <p:txBody>
            <a:bodyPr anchor="ctr" rtlCol="false" tIns="50800" lIns="50800" bIns="50800" rIns="50800"/>
            <a:lstStyle/>
            <a:p>
              <a:pPr algn="ctr">
                <a:lnSpc>
                  <a:spcPts val="1200"/>
                </a:lnSpc>
              </a:pPr>
            </a:p>
          </p:txBody>
        </p:sp>
      </p:grpSp>
      <p:grpSp>
        <p:nvGrpSpPr>
          <p:cNvPr name="Group 38" id="38"/>
          <p:cNvGrpSpPr/>
          <p:nvPr/>
        </p:nvGrpSpPr>
        <p:grpSpPr>
          <a:xfrm rot="0">
            <a:off x="16573507" y="3897608"/>
            <a:ext cx="1714493" cy="6551317"/>
            <a:chOff x="0" y="0"/>
            <a:chExt cx="451554" cy="1725450"/>
          </a:xfrm>
        </p:grpSpPr>
        <p:sp>
          <p:nvSpPr>
            <p:cNvPr name="Freeform 39" id="39"/>
            <p:cNvSpPr/>
            <p:nvPr/>
          </p:nvSpPr>
          <p:spPr>
            <a:xfrm flipH="false" flipV="false" rot="0">
              <a:off x="0" y="0"/>
              <a:ext cx="451554" cy="1725450"/>
            </a:xfrm>
            <a:custGeom>
              <a:avLst/>
              <a:gdLst/>
              <a:ahLst/>
              <a:cxnLst/>
              <a:rect r="r" b="b" t="t" l="l"/>
              <a:pathLst>
                <a:path h="1725450" w="451554">
                  <a:moveTo>
                    <a:pt x="0" y="0"/>
                  </a:moveTo>
                  <a:lnTo>
                    <a:pt x="451554" y="0"/>
                  </a:lnTo>
                  <a:lnTo>
                    <a:pt x="451554" y="1725450"/>
                  </a:lnTo>
                  <a:lnTo>
                    <a:pt x="0" y="1725450"/>
                  </a:lnTo>
                  <a:close/>
                </a:path>
              </a:pathLst>
            </a:custGeom>
            <a:gradFill rotWithShape="true">
              <a:gsLst>
                <a:gs pos="0">
                  <a:srgbClr val="000000">
                    <a:alpha val="100000"/>
                  </a:srgbClr>
                </a:gs>
                <a:gs pos="100000">
                  <a:srgbClr val="EE581E">
                    <a:alpha val="100000"/>
                  </a:srgbClr>
                </a:gs>
              </a:gsLst>
              <a:lin ang="5400000"/>
            </a:gradFill>
          </p:spPr>
        </p:sp>
        <p:sp>
          <p:nvSpPr>
            <p:cNvPr name="TextBox 40" id="40"/>
            <p:cNvSpPr txBox="true"/>
            <p:nvPr/>
          </p:nvSpPr>
          <p:spPr>
            <a:xfrm>
              <a:off x="0" y="47625"/>
              <a:ext cx="451554" cy="1677825"/>
            </a:xfrm>
            <a:prstGeom prst="rect">
              <a:avLst/>
            </a:prstGeom>
          </p:spPr>
          <p:txBody>
            <a:bodyPr anchor="ctr" rtlCol="false" tIns="50800" lIns="50800" bIns="50800" rIns="50800"/>
            <a:lstStyle/>
            <a:p>
              <a:pPr algn="ctr">
                <a:lnSpc>
                  <a:spcPts val="1200"/>
                </a:lnSpc>
              </a:pPr>
            </a:p>
          </p:txBody>
        </p:sp>
      </p:grpSp>
      <p:grpSp>
        <p:nvGrpSpPr>
          <p:cNvPr name="Group 41" id="41"/>
          <p:cNvGrpSpPr/>
          <p:nvPr/>
        </p:nvGrpSpPr>
        <p:grpSpPr>
          <a:xfrm rot="0">
            <a:off x="3045317" y="5543320"/>
            <a:ext cx="13187205" cy="835971"/>
            <a:chOff x="0" y="0"/>
            <a:chExt cx="3473173" cy="220173"/>
          </a:xfrm>
        </p:grpSpPr>
        <p:sp>
          <p:nvSpPr>
            <p:cNvPr name="Freeform 42" id="42"/>
            <p:cNvSpPr/>
            <p:nvPr/>
          </p:nvSpPr>
          <p:spPr>
            <a:xfrm flipH="false" flipV="false" rot="0">
              <a:off x="0" y="0"/>
              <a:ext cx="3473173" cy="220173"/>
            </a:xfrm>
            <a:custGeom>
              <a:avLst/>
              <a:gdLst/>
              <a:ahLst/>
              <a:cxnLst/>
              <a:rect r="r" b="b" t="t" l="l"/>
              <a:pathLst>
                <a:path h="220173" w="3473173">
                  <a:moveTo>
                    <a:pt x="29941" y="0"/>
                  </a:moveTo>
                  <a:lnTo>
                    <a:pt x="3443232" y="0"/>
                  </a:lnTo>
                  <a:cubicBezTo>
                    <a:pt x="3459768" y="0"/>
                    <a:pt x="3473173" y="13405"/>
                    <a:pt x="3473173" y="29941"/>
                  </a:cubicBezTo>
                  <a:lnTo>
                    <a:pt x="3473173" y="190232"/>
                  </a:lnTo>
                  <a:cubicBezTo>
                    <a:pt x="3473173" y="206768"/>
                    <a:pt x="3459768" y="220173"/>
                    <a:pt x="3443232" y="220173"/>
                  </a:cubicBezTo>
                  <a:lnTo>
                    <a:pt x="29941" y="220173"/>
                  </a:lnTo>
                  <a:cubicBezTo>
                    <a:pt x="13405" y="220173"/>
                    <a:pt x="0" y="206768"/>
                    <a:pt x="0" y="190232"/>
                  </a:cubicBezTo>
                  <a:lnTo>
                    <a:pt x="0" y="29941"/>
                  </a:lnTo>
                  <a:cubicBezTo>
                    <a:pt x="0" y="13405"/>
                    <a:pt x="13405" y="0"/>
                    <a:pt x="29941" y="0"/>
                  </a:cubicBezTo>
                  <a:close/>
                </a:path>
              </a:pathLst>
            </a:custGeom>
            <a:solidFill>
              <a:srgbClr val="191919"/>
            </a:solidFill>
          </p:spPr>
        </p:sp>
        <p:sp>
          <p:nvSpPr>
            <p:cNvPr name="TextBox 43" id="43"/>
            <p:cNvSpPr txBox="true"/>
            <p:nvPr/>
          </p:nvSpPr>
          <p:spPr>
            <a:xfrm>
              <a:off x="0" y="47625"/>
              <a:ext cx="3473173" cy="172548"/>
            </a:xfrm>
            <a:prstGeom prst="rect">
              <a:avLst/>
            </a:prstGeom>
          </p:spPr>
          <p:txBody>
            <a:bodyPr anchor="ctr" rtlCol="false" tIns="50800" lIns="50800" bIns="50800" rIns="50800"/>
            <a:lstStyle/>
            <a:p>
              <a:pPr algn="ctr">
                <a:lnSpc>
                  <a:spcPts val="1200"/>
                </a:lnSpc>
              </a:pPr>
            </a:p>
          </p:txBody>
        </p:sp>
      </p:grpSp>
      <p:sp>
        <p:nvSpPr>
          <p:cNvPr name="TextBox 44" id="44"/>
          <p:cNvSpPr txBox="true"/>
          <p:nvPr/>
        </p:nvSpPr>
        <p:spPr>
          <a:xfrm rot="0">
            <a:off x="3086158" y="3155779"/>
            <a:ext cx="13146363" cy="2555890"/>
          </a:xfrm>
          <a:prstGeom prst="rect">
            <a:avLst/>
          </a:prstGeom>
        </p:spPr>
        <p:txBody>
          <a:bodyPr anchor="t" rtlCol="false" tIns="0" lIns="0" bIns="0" rIns="0">
            <a:spAutoFit/>
          </a:bodyPr>
          <a:lstStyle/>
          <a:p>
            <a:pPr algn="ctr">
              <a:lnSpc>
                <a:spcPts val="8100"/>
              </a:lnSpc>
            </a:pPr>
            <a:r>
              <a:rPr lang="en-US" sz="8100">
                <a:solidFill>
                  <a:srgbClr val="FFFFFF"/>
                </a:solidFill>
                <a:latin typeface="Poppins"/>
                <a:ea typeface="Poppins"/>
                <a:cs typeface="Poppins"/>
                <a:sym typeface="Poppins"/>
              </a:rPr>
              <a:t>Multi-LLM P</a:t>
            </a:r>
            <a:r>
              <a:rPr lang="en-US" sz="8100">
                <a:solidFill>
                  <a:srgbClr val="FFFFFF"/>
                </a:solidFill>
                <a:latin typeface="Poppins"/>
                <a:ea typeface="Poppins"/>
                <a:cs typeface="Poppins"/>
                <a:sym typeface="Poppins"/>
              </a:rPr>
              <a:t>rompt Robustness Benchmark</a:t>
            </a:r>
          </a:p>
          <a:p>
            <a:pPr algn="ctr">
              <a:lnSpc>
                <a:spcPts val="3400"/>
              </a:lnSpc>
            </a:pPr>
          </a:p>
        </p:txBody>
      </p:sp>
      <p:sp>
        <p:nvSpPr>
          <p:cNvPr name="TextBox 45" id="45"/>
          <p:cNvSpPr txBox="true"/>
          <p:nvPr/>
        </p:nvSpPr>
        <p:spPr>
          <a:xfrm rot="0">
            <a:off x="3517579" y="5781883"/>
            <a:ext cx="12283522" cy="597408"/>
          </a:xfrm>
          <a:prstGeom prst="rect">
            <a:avLst/>
          </a:prstGeom>
        </p:spPr>
        <p:txBody>
          <a:bodyPr anchor="t" rtlCol="false" tIns="0" lIns="0" bIns="0" rIns="0">
            <a:spAutoFit/>
          </a:bodyPr>
          <a:lstStyle/>
          <a:p>
            <a:pPr algn="ctr">
              <a:lnSpc>
                <a:spcPts val="2376"/>
              </a:lnSpc>
            </a:pPr>
            <a:r>
              <a:rPr lang="en-US" sz="2400">
                <a:solidFill>
                  <a:srgbClr val="FFFFFF"/>
                </a:solidFill>
                <a:latin typeface="Montserrat"/>
                <a:ea typeface="Montserrat"/>
                <a:cs typeface="Montserrat"/>
                <a:sym typeface="Montserrat"/>
              </a:rPr>
              <a:t>Evalu</a:t>
            </a:r>
            <a:r>
              <a:rPr lang="en-US" sz="2400">
                <a:solidFill>
                  <a:srgbClr val="FFFFFF"/>
                </a:solidFill>
                <a:latin typeface="Montserrat"/>
                <a:ea typeface="Montserrat"/>
                <a:cs typeface="Montserrat"/>
                <a:sym typeface="Montserrat"/>
              </a:rPr>
              <a:t>ating the Resilience of Large Language Models against Adversarial Attack</a:t>
            </a:r>
          </a:p>
          <a:p>
            <a:pPr algn="ctr">
              <a:lnSpc>
                <a:spcPts val="2376"/>
              </a:lnSpc>
            </a:pPr>
          </a:p>
        </p:txBody>
      </p:sp>
      <p:sp>
        <p:nvSpPr>
          <p:cNvPr name="TextBox 46" id="46"/>
          <p:cNvSpPr txBox="true"/>
          <p:nvPr/>
        </p:nvSpPr>
        <p:spPr>
          <a:xfrm rot="0">
            <a:off x="4885086" y="6693616"/>
            <a:ext cx="8336062" cy="2261870"/>
          </a:xfrm>
          <a:prstGeom prst="rect">
            <a:avLst/>
          </a:prstGeom>
        </p:spPr>
        <p:txBody>
          <a:bodyPr anchor="t" rtlCol="false" tIns="0" lIns="0" bIns="0" rIns="0">
            <a:spAutoFit/>
          </a:bodyPr>
          <a:lstStyle/>
          <a:p>
            <a:pPr algn="ctr" marL="0" indent="0" lvl="0">
              <a:lnSpc>
                <a:spcPts val="2659"/>
              </a:lnSpc>
              <a:spcBef>
                <a:spcPct val="0"/>
              </a:spcBef>
            </a:pPr>
            <a:r>
              <a:rPr lang="en-US" sz="1899">
                <a:solidFill>
                  <a:srgbClr val="FFFFFF"/>
                </a:solidFill>
                <a:latin typeface="Montserrat"/>
                <a:ea typeface="Montserrat"/>
                <a:cs typeface="Montserrat"/>
                <a:sym typeface="Montserrat"/>
              </a:rPr>
              <a:t>T</a:t>
            </a:r>
            <a:r>
              <a:rPr lang="en-US" sz="1899">
                <a:solidFill>
                  <a:srgbClr val="FFFFFF"/>
                </a:solidFill>
                <a:latin typeface="Montserrat"/>
                <a:ea typeface="Montserrat"/>
                <a:cs typeface="Montserrat"/>
                <a:sym typeface="Montserrat"/>
              </a:rPr>
              <a:t>eam Presentation:</a:t>
            </a:r>
          </a:p>
          <a:p>
            <a:pPr algn="ctr" marL="0" indent="0" lvl="0">
              <a:lnSpc>
                <a:spcPts val="2659"/>
              </a:lnSpc>
              <a:spcBef>
                <a:spcPct val="0"/>
              </a:spcBef>
            </a:pPr>
            <a:r>
              <a:rPr lang="en-US" sz="1899">
                <a:solidFill>
                  <a:srgbClr val="FFFFFF"/>
                </a:solidFill>
                <a:latin typeface="Montserrat"/>
                <a:ea typeface="Montserrat"/>
                <a:cs typeface="Montserrat"/>
                <a:sym typeface="Montserrat"/>
              </a:rPr>
              <a:t>K.V.R.Manohar</a:t>
            </a:r>
          </a:p>
          <a:p>
            <a:pPr algn="ctr" marL="0" indent="0" lvl="0">
              <a:lnSpc>
                <a:spcPts val="2659"/>
              </a:lnSpc>
              <a:spcBef>
                <a:spcPct val="0"/>
              </a:spcBef>
            </a:pPr>
            <a:r>
              <a:rPr lang="en-US" sz="1899">
                <a:solidFill>
                  <a:srgbClr val="FFFFFF"/>
                </a:solidFill>
                <a:latin typeface="Montserrat"/>
                <a:ea typeface="Montserrat"/>
                <a:cs typeface="Montserrat"/>
                <a:sym typeface="Montserrat"/>
              </a:rPr>
              <a:t>B.Navya Sri</a:t>
            </a:r>
          </a:p>
          <a:p>
            <a:pPr algn="ctr" marL="0" indent="0" lvl="0">
              <a:lnSpc>
                <a:spcPts val="2659"/>
              </a:lnSpc>
              <a:spcBef>
                <a:spcPct val="0"/>
              </a:spcBef>
            </a:pPr>
            <a:r>
              <a:rPr lang="en-US" sz="1899">
                <a:solidFill>
                  <a:srgbClr val="FFFFFF"/>
                </a:solidFill>
                <a:latin typeface="Montserrat"/>
                <a:ea typeface="Montserrat"/>
                <a:cs typeface="Montserrat"/>
                <a:sym typeface="Montserrat"/>
              </a:rPr>
              <a:t>G.Navya Ramani</a:t>
            </a:r>
          </a:p>
          <a:p>
            <a:pPr algn="ctr" marL="0" indent="0" lvl="0">
              <a:lnSpc>
                <a:spcPts val="2659"/>
              </a:lnSpc>
              <a:spcBef>
                <a:spcPct val="0"/>
              </a:spcBef>
            </a:pPr>
            <a:r>
              <a:rPr lang="en-US" sz="1899">
                <a:solidFill>
                  <a:srgbClr val="FFFFFF"/>
                </a:solidFill>
                <a:latin typeface="Montserrat"/>
                <a:ea typeface="Montserrat"/>
                <a:cs typeface="Montserrat"/>
                <a:sym typeface="Montserrat"/>
              </a:rPr>
              <a:t>G.Sai Ganesh</a:t>
            </a:r>
          </a:p>
          <a:p>
            <a:pPr algn="ctr" marL="0" indent="0" lvl="0">
              <a:lnSpc>
                <a:spcPts val="2659"/>
              </a:lnSpc>
              <a:spcBef>
                <a:spcPct val="0"/>
              </a:spcBef>
            </a:pPr>
            <a:r>
              <a:rPr lang="en-US" sz="1899">
                <a:solidFill>
                  <a:srgbClr val="FFFFFF"/>
                </a:solidFill>
                <a:latin typeface="Montserrat"/>
                <a:ea typeface="Montserrat"/>
                <a:cs typeface="Montserrat"/>
                <a:sym typeface="Montserrat"/>
              </a:rPr>
              <a:t>K.Pavan</a:t>
            </a:r>
          </a:p>
          <a:p>
            <a:pPr algn="ctr">
              <a:lnSpc>
                <a:spcPts val="2100"/>
              </a:lnSpc>
              <a:spcBef>
                <a:spcPct val="0"/>
              </a:spcBef>
            </a:pPr>
          </a:p>
        </p:txBody>
      </p:sp>
      <p:pic>
        <p:nvPicPr>
          <p:cNvPr name="Picture 47" id="47">
            <a:hlinkClick action="ppaction://media"/>
          </p:cNvPr>
          <p:cNvPicPr>
            <a:picLocks noChangeAspect="true"/>
          </p:cNvPicPr>
          <p:nvPr>
            <a:audioFile r:link="rId4"/>
            <p:extLst>
              <p:ext uri="{DAA4B4D4-6D71-4841-9C94-3DE7FCFB9230}">
                <p14:media xmlns:p14="http://schemas.microsoft.com/office/powerpoint/2010/main" r:embed="rId3"/>
              </p:ext>
            </p:extLst>
          </p:nvPr>
        </p:nvPicPr>
        <p:blipFill>
          <a:blip r:embed="rId2"/>
          <a:stretch>
            <a:fillRect/>
          </a:stretch>
        </p:blipFill>
        <p:spPr>
          <a:xfrm>
            <a:off x="8629650" y="4629150"/>
            <a:ext cx="1028700" cy="1028700"/>
          </a:xfrm>
          <a:prstGeom prst="rect">
            <a:avLst/>
          </a:prstGeom>
        </p:spPr>
      </p:pic>
    </p:spTree>
  </p:cSld>
  <p:clrMapOvr>
    <a:masterClrMapping/>
  </p:clrMapOvr>
  <p:timing>
    <p:tnLst>
      <p:par>
        <p:cTn dur="indefinite" restart="never" nodeType="tmRoot">
          <p:childTnLst>
            <p:cmd cmd="playFrom(0.0)">
              <p:cBhvr>
                <p:cTn/>
                <p:tgtEl>
                  <p:spTgt spid="47"/>
                </p:tgtEl>
              </p:cBhvr>
            </p:cmd>
            <p:audio>
              <p:cMediaNode vol="100000" showWhenStopped="false">
                <p:cTn/>
                <p:tgtEl>
                  <p:spTgt spid="47"/>
                </p:tgtEl>
              </p:cMediaNode>
            </p:audio>
          </p:childTnLst>
        </p:cTn>
      </p:par>
    </p:tnLst>
  </p:timing>
</p:sld>
</file>

<file path=ppt/slides/slide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487274" y="1154656"/>
            <a:ext cx="12610529" cy="2973368"/>
          </a:xfrm>
          <a:prstGeom prst="rect">
            <a:avLst/>
          </a:prstGeom>
        </p:spPr>
        <p:txBody>
          <a:bodyPr anchor="t" rtlCol="false" tIns="0" lIns="0" bIns="0" rIns="0">
            <a:spAutoFit/>
          </a:bodyPr>
          <a:lstStyle/>
          <a:p>
            <a:pPr algn="l">
              <a:lnSpc>
                <a:spcPts val="7561"/>
              </a:lnSpc>
            </a:pPr>
            <a:r>
              <a:rPr lang="en-US" sz="7561">
                <a:solidFill>
                  <a:srgbClr val="FFFFFF"/>
                </a:solidFill>
                <a:latin typeface="Poppins"/>
                <a:ea typeface="Poppins"/>
                <a:cs typeface="Poppins"/>
                <a:sym typeface="Poppins"/>
              </a:rPr>
              <a:t>What is P</a:t>
            </a:r>
            <a:r>
              <a:rPr lang="en-US" sz="7561">
                <a:solidFill>
                  <a:srgbClr val="FFFFFF"/>
                </a:solidFill>
                <a:latin typeface="Poppins"/>
                <a:ea typeface="Poppins"/>
                <a:cs typeface="Poppins"/>
                <a:sym typeface="Poppins"/>
              </a:rPr>
              <a:t>rompt Robustness?</a:t>
            </a:r>
          </a:p>
          <a:p>
            <a:pPr algn="l">
              <a:lnSpc>
                <a:spcPts val="7561"/>
              </a:lnSpc>
            </a:pPr>
          </a:p>
        </p:txBody>
      </p:sp>
      <p:grpSp>
        <p:nvGrpSpPr>
          <p:cNvPr name="Group 3" id="3"/>
          <p:cNvGrpSpPr/>
          <p:nvPr/>
        </p:nvGrpSpPr>
        <p:grpSpPr>
          <a:xfrm rot="5400000">
            <a:off x="-13080" y="4183304"/>
            <a:ext cx="5394887" cy="4755105"/>
            <a:chOff x="0" y="0"/>
            <a:chExt cx="2643445" cy="2329957"/>
          </a:xfrm>
        </p:grpSpPr>
        <p:sp>
          <p:nvSpPr>
            <p:cNvPr name="Freeform 4" id="4"/>
            <p:cNvSpPr/>
            <p:nvPr/>
          </p:nvSpPr>
          <p:spPr>
            <a:xfrm flipH="false" flipV="false" rot="0">
              <a:off x="0" y="0"/>
              <a:ext cx="2643444" cy="2329957"/>
            </a:xfrm>
            <a:custGeom>
              <a:avLst/>
              <a:gdLst/>
              <a:ahLst/>
              <a:cxnLst/>
              <a:rect r="r" b="b" t="t" l="l"/>
              <a:pathLst>
                <a:path h="2329957" w="2643444">
                  <a:moveTo>
                    <a:pt x="0" y="0"/>
                  </a:moveTo>
                  <a:lnTo>
                    <a:pt x="2643444" y="0"/>
                  </a:lnTo>
                  <a:lnTo>
                    <a:pt x="2643444" y="2329957"/>
                  </a:lnTo>
                  <a:lnTo>
                    <a:pt x="0" y="2329957"/>
                  </a:lnTo>
                  <a:close/>
                </a:path>
              </a:pathLst>
            </a:custGeom>
            <a:gradFill rotWithShape="true">
              <a:gsLst>
                <a:gs pos="0">
                  <a:srgbClr val="000000">
                    <a:alpha val="100000"/>
                  </a:srgbClr>
                </a:gs>
                <a:gs pos="100000">
                  <a:srgbClr val="EE581E">
                    <a:alpha val="100000"/>
                  </a:srgbClr>
                </a:gs>
              </a:gsLst>
              <a:lin ang="5400000"/>
            </a:gradFill>
          </p:spPr>
        </p:sp>
        <p:sp>
          <p:nvSpPr>
            <p:cNvPr name="TextBox 5" id="5"/>
            <p:cNvSpPr txBox="true"/>
            <p:nvPr/>
          </p:nvSpPr>
          <p:spPr>
            <a:xfrm>
              <a:off x="0" y="47625"/>
              <a:ext cx="2643445" cy="2282332"/>
            </a:xfrm>
            <a:prstGeom prst="rect">
              <a:avLst/>
            </a:prstGeom>
          </p:spPr>
          <p:txBody>
            <a:bodyPr anchor="ctr" rtlCol="false" tIns="50800" lIns="50800" bIns="50800" rIns="50800"/>
            <a:lstStyle/>
            <a:p>
              <a:pPr algn="ctr">
                <a:lnSpc>
                  <a:spcPts val="1200"/>
                </a:lnSpc>
              </a:pPr>
            </a:p>
          </p:txBody>
        </p:sp>
      </p:grpSp>
      <p:sp>
        <p:nvSpPr>
          <p:cNvPr name="TextBox 6" id="6"/>
          <p:cNvSpPr txBox="true"/>
          <p:nvPr/>
        </p:nvSpPr>
        <p:spPr>
          <a:xfrm rot="0">
            <a:off x="640487" y="4148342"/>
            <a:ext cx="3927617" cy="4696895"/>
          </a:xfrm>
          <a:prstGeom prst="rect">
            <a:avLst/>
          </a:prstGeom>
        </p:spPr>
        <p:txBody>
          <a:bodyPr anchor="t" rtlCol="false" tIns="0" lIns="0" bIns="0" rIns="0">
            <a:spAutoFit/>
          </a:bodyPr>
          <a:lstStyle/>
          <a:p>
            <a:pPr algn="l">
              <a:lnSpc>
                <a:spcPts val="4758"/>
              </a:lnSpc>
            </a:pPr>
            <a:r>
              <a:rPr lang="en-US" sz="4137" b="true">
                <a:solidFill>
                  <a:srgbClr val="FFFFFF"/>
                </a:solidFill>
                <a:latin typeface="Montserrat Bold"/>
                <a:ea typeface="Montserrat Bold"/>
                <a:cs typeface="Montserrat Bold"/>
                <a:sym typeface="Montserrat Bold"/>
              </a:rPr>
              <a:t>The Problem</a:t>
            </a:r>
          </a:p>
          <a:p>
            <a:pPr algn="l">
              <a:lnSpc>
                <a:spcPts val="2239"/>
              </a:lnSpc>
            </a:pPr>
          </a:p>
          <a:p>
            <a:pPr algn="l">
              <a:lnSpc>
                <a:spcPts val="2799"/>
              </a:lnSpc>
            </a:pPr>
            <a:r>
              <a:rPr lang="en-US" sz="2434">
                <a:solidFill>
                  <a:srgbClr val="FFFFFF"/>
                </a:solidFill>
                <a:latin typeface="Montserrat"/>
                <a:ea typeface="Montserrat"/>
                <a:cs typeface="Montserrat"/>
                <a:sym typeface="Montserrat"/>
              </a:rPr>
              <a:t>LLMs are powerful but notoriously sensitive. Minor changes in a prompt can lead to drastically different or completely incorrect outputs, creating security vulnerabilities.</a:t>
            </a:r>
          </a:p>
          <a:p>
            <a:pPr algn="l">
              <a:lnSpc>
                <a:spcPts val="4058"/>
              </a:lnSpc>
            </a:pPr>
          </a:p>
          <a:p>
            <a:pPr algn="l" marL="0" indent="0" lvl="0">
              <a:lnSpc>
                <a:spcPts val="2099"/>
              </a:lnSpc>
            </a:pPr>
          </a:p>
          <a:p>
            <a:pPr algn="l">
              <a:lnSpc>
                <a:spcPts val="2099"/>
              </a:lnSpc>
            </a:pPr>
          </a:p>
        </p:txBody>
      </p:sp>
      <p:grpSp>
        <p:nvGrpSpPr>
          <p:cNvPr name="Group 7" id="7"/>
          <p:cNvGrpSpPr/>
          <p:nvPr/>
        </p:nvGrpSpPr>
        <p:grpSpPr>
          <a:xfrm rot="-5400000">
            <a:off x="20229322" y="5498628"/>
            <a:ext cx="1714493" cy="7976552"/>
            <a:chOff x="0" y="0"/>
            <a:chExt cx="451554" cy="2100820"/>
          </a:xfrm>
        </p:grpSpPr>
        <p:sp>
          <p:nvSpPr>
            <p:cNvPr name="Freeform 8" id="8"/>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9" id="9"/>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0" id="10"/>
          <p:cNvGrpSpPr/>
          <p:nvPr/>
        </p:nvGrpSpPr>
        <p:grpSpPr>
          <a:xfrm rot="-5400000">
            <a:off x="19455934" y="3999715"/>
            <a:ext cx="1714493" cy="7976552"/>
            <a:chOff x="0" y="0"/>
            <a:chExt cx="451554" cy="2100820"/>
          </a:xfrm>
        </p:grpSpPr>
        <p:sp>
          <p:nvSpPr>
            <p:cNvPr name="Freeform 11" id="11"/>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2" id="12"/>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3" id="13"/>
          <p:cNvGrpSpPr/>
          <p:nvPr/>
        </p:nvGrpSpPr>
        <p:grpSpPr>
          <a:xfrm rot="-5400000">
            <a:off x="18548998" y="2495908"/>
            <a:ext cx="1714493" cy="7976552"/>
            <a:chOff x="0" y="0"/>
            <a:chExt cx="451554" cy="2100820"/>
          </a:xfrm>
        </p:grpSpPr>
        <p:sp>
          <p:nvSpPr>
            <p:cNvPr name="Freeform 14" id="14"/>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5" id="15"/>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6" id="16"/>
          <p:cNvGrpSpPr/>
          <p:nvPr/>
        </p:nvGrpSpPr>
        <p:grpSpPr>
          <a:xfrm rot="-5400000">
            <a:off x="17775609" y="996995"/>
            <a:ext cx="1714493" cy="7976552"/>
            <a:chOff x="0" y="0"/>
            <a:chExt cx="451554" cy="2100820"/>
          </a:xfrm>
        </p:grpSpPr>
        <p:sp>
          <p:nvSpPr>
            <p:cNvPr name="Freeform 17" id="17"/>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8" id="18"/>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9" id="19"/>
          <p:cNvGrpSpPr/>
          <p:nvPr/>
        </p:nvGrpSpPr>
        <p:grpSpPr>
          <a:xfrm rot="-5400000">
            <a:off x="17002221" y="-501918"/>
            <a:ext cx="1714493" cy="7976552"/>
            <a:chOff x="0" y="0"/>
            <a:chExt cx="451554" cy="2100820"/>
          </a:xfrm>
        </p:grpSpPr>
        <p:sp>
          <p:nvSpPr>
            <p:cNvPr name="Freeform 20" id="20"/>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1" id="21"/>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2" id="22"/>
          <p:cNvGrpSpPr/>
          <p:nvPr/>
        </p:nvGrpSpPr>
        <p:grpSpPr>
          <a:xfrm rot="-5400000">
            <a:off x="16228832" y="-2000831"/>
            <a:ext cx="1714493" cy="7976552"/>
            <a:chOff x="0" y="0"/>
            <a:chExt cx="451554" cy="2100820"/>
          </a:xfrm>
        </p:grpSpPr>
        <p:sp>
          <p:nvSpPr>
            <p:cNvPr name="Freeform 23" id="23"/>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4" id="24"/>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5" id="25"/>
          <p:cNvGrpSpPr/>
          <p:nvPr/>
        </p:nvGrpSpPr>
        <p:grpSpPr>
          <a:xfrm rot="-5400000">
            <a:off x="15455444" y="-3499744"/>
            <a:ext cx="1714493" cy="7976552"/>
            <a:chOff x="0" y="0"/>
            <a:chExt cx="451554" cy="2100820"/>
          </a:xfrm>
        </p:grpSpPr>
        <p:sp>
          <p:nvSpPr>
            <p:cNvPr name="Freeform 26" id="26"/>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7" id="27"/>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8" id="28"/>
          <p:cNvGrpSpPr/>
          <p:nvPr/>
        </p:nvGrpSpPr>
        <p:grpSpPr>
          <a:xfrm rot="5400000">
            <a:off x="6018484" y="4104950"/>
            <a:ext cx="5394887" cy="4755105"/>
            <a:chOff x="0" y="0"/>
            <a:chExt cx="2643445" cy="2329957"/>
          </a:xfrm>
        </p:grpSpPr>
        <p:sp>
          <p:nvSpPr>
            <p:cNvPr name="Freeform 29" id="29"/>
            <p:cNvSpPr/>
            <p:nvPr/>
          </p:nvSpPr>
          <p:spPr>
            <a:xfrm flipH="false" flipV="false" rot="0">
              <a:off x="0" y="0"/>
              <a:ext cx="2643444" cy="2329957"/>
            </a:xfrm>
            <a:custGeom>
              <a:avLst/>
              <a:gdLst/>
              <a:ahLst/>
              <a:cxnLst/>
              <a:rect r="r" b="b" t="t" l="l"/>
              <a:pathLst>
                <a:path h="2329957" w="2643444">
                  <a:moveTo>
                    <a:pt x="0" y="0"/>
                  </a:moveTo>
                  <a:lnTo>
                    <a:pt x="2643444" y="0"/>
                  </a:lnTo>
                  <a:lnTo>
                    <a:pt x="2643444" y="2329957"/>
                  </a:lnTo>
                  <a:lnTo>
                    <a:pt x="0" y="2329957"/>
                  </a:lnTo>
                  <a:close/>
                </a:path>
              </a:pathLst>
            </a:custGeom>
            <a:gradFill rotWithShape="true">
              <a:gsLst>
                <a:gs pos="0">
                  <a:srgbClr val="000000">
                    <a:alpha val="100000"/>
                  </a:srgbClr>
                </a:gs>
                <a:gs pos="100000">
                  <a:srgbClr val="EE581E">
                    <a:alpha val="100000"/>
                  </a:srgbClr>
                </a:gs>
              </a:gsLst>
              <a:lin ang="5400000"/>
            </a:gradFill>
          </p:spPr>
        </p:sp>
        <p:sp>
          <p:nvSpPr>
            <p:cNvPr name="TextBox 30" id="30"/>
            <p:cNvSpPr txBox="true"/>
            <p:nvPr/>
          </p:nvSpPr>
          <p:spPr>
            <a:xfrm>
              <a:off x="0" y="47625"/>
              <a:ext cx="2643445" cy="2282332"/>
            </a:xfrm>
            <a:prstGeom prst="rect">
              <a:avLst/>
            </a:prstGeom>
          </p:spPr>
          <p:txBody>
            <a:bodyPr anchor="ctr" rtlCol="false" tIns="50800" lIns="50800" bIns="50800" rIns="50800"/>
            <a:lstStyle/>
            <a:p>
              <a:pPr algn="ctr">
                <a:lnSpc>
                  <a:spcPts val="1200"/>
                </a:lnSpc>
              </a:pPr>
            </a:p>
          </p:txBody>
        </p:sp>
      </p:grpSp>
      <p:grpSp>
        <p:nvGrpSpPr>
          <p:cNvPr name="Group 31" id="31"/>
          <p:cNvGrpSpPr/>
          <p:nvPr/>
        </p:nvGrpSpPr>
        <p:grpSpPr>
          <a:xfrm rot="5400000">
            <a:off x="11947137" y="4104950"/>
            <a:ext cx="5394887" cy="4755105"/>
            <a:chOff x="0" y="0"/>
            <a:chExt cx="2643445" cy="2329957"/>
          </a:xfrm>
        </p:grpSpPr>
        <p:sp>
          <p:nvSpPr>
            <p:cNvPr name="Freeform 32" id="32"/>
            <p:cNvSpPr/>
            <p:nvPr/>
          </p:nvSpPr>
          <p:spPr>
            <a:xfrm flipH="false" flipV="false" rot="0">
              <a:off x="0" y="0"/>
              <a:ext cx="2643444" cy="2329957"/>
            </a:xfrm>
            <a:custGeom>
              <a:avLst/>
              <a:gdLst/>
              <a:ahLst/>
              <a:cxnLst/>
              <a:rect r="r" b="b" t="t" l="l"/>
              <a:pathLst>
                <a:path h="2329957" w="2643444">
                  <a:moveTo>
                    <a:pt x="0" y="0"/>
                  </a:moveTo>
                  <a:lnTo>
                    <a:pt x="2643444" y="0"/>
                  </a:lnTo>
                  <a:lnTo>
                    <a:pt x="2643444" y="2329957"/>
                  </a:lnTo>
                  <a:lnTo>
                    <a:pt x="0" y="2329957"/>
                  </a:lnTo>
                  <a:close/>
                </a:path>
              </a:pathLst>
            </a:custGeom>
            <a:gradFill rotWithShape="true">
              <a:gsLst>
                <a:gs pos="0">
                  <a:srgbClr val="000000">
                    <a:alpha val="100000"/>
                  </a:srgbClr>
                </a:gs>
                <a:gs pos="100000">
                  <a:srgbClr val="EE581E">
                    <a:alpha val="100000"/>
                  </a:srgbClr>
                </a:gs>
              </a:gsLst>
              <a:lin ang="5400000"/>
            </a:gradFill>
          </p:spPr>
        </p:sp>
        <p:sp>
          <p:nvSpPr>
            <p:cNvPr name="TextBox 33" id="33"/>
            <p:cNvSpPr txBox="true"/>
            <p:nvPr/>
          </p:nvSpPr>
          <p:spPr>
            <a:xfrm>
              <a:off x="0" y="47625"/>
              <a:ext cx="2643445" cy="2282332"/>
            </a:xfrm>
            <a:prstGeom prst="rect">
              <a:avLst/>
            </a:prstGeom>
          </p:spPr>
          <p:txBody>
            <a:bodyPr anchor="ctr" rtlCol="false" tIns="50800" lIns="50800" bIns="50800" rIns="50800"/>
            <a:lstStyle/>
            <a:p>
              <a:pPr algn="ctr">
                <a:lnSpc>
                  <a:spcPts val="1200"/>
                </a:lnSpc>
              </a:pPr>
            </a:p>
          </p:txBody>
        </p:sp>
      </p:grpSp>
      <p:sp>
        <p:nvSpPr>
          <p:cNvPr name="TextBox 34" id="34"/>
          <p:cNvSpPr txBox="true"/>
          <p:nvPr/>
        </p:nvSpPr>
        <p:spPr>
          <a:xfrm rot="0">
            <a:off x="6700663" y="4148342"/>
            <a:ext cx="3927617" cy="5740216"/>
          </a:xfrm>
          <a:prstGeom prst="rect">
            <a:avLst/>
          </a:prstGeom>
        </p:spPr>
        <p:txBody>
          <a:bodyPr anchor="t" rtlCol="false" tIns="0" lIns="0" bIns="0" rIns="0">
            <a:spAutoFit/>
          </a:bodyPr>
          <a:lstStyle/>
          <a:p>
            <a:pPr algn="l">
              <a:lnSpc>
                <a:spcPts val="4758"/>
              </a:lnSpc>
            </a:pPr>
            <a:r>
              <a:rPr lang="en-US" sz="4137" b="true">
                <a:solidFill>
                  <a:srgbClr val="FFFFFF"/>
                </a:solidFill>
                <a:latin typeface="Montserrat Bold"/>
                <a:ea typeface="Montserrat Bold"/>
                <a:cs typeface="Montserrat Bold"/>
                <a:sym typeface="Montserrat Bold"/>
              </a:rPr>
              <a:t>The Goal</a:t>
            </a:r>
          </a:p>
          <a:p>
            <a:pPr algn="l">
              <a:lnSpc>
                <a:spcPts val="2239"/>
              </a:lnSpc>
            </a:pPr>
          </a:p>
          <a:p>
            <a:pPr algn="l">
              <a:lnSpc>
                <a:spcPts val="2799"/>
              </a:lnSpc>
            </a:pPr>
            <a:r>
              <a:rPr lang="en-US" sz="2434">
                <a:solidFill>
                  <a:srgbClr val="FFFFFF"/>
                </a:solidFill>
                <a:latin typeface="Montserrat"/>
                <a:ea typeface="Montserrat"/>
                <a:cs typeface="Montserrat"/>
                <a:sym typeface="Montserrat"/>
              </a:rPr>
              <a:t>Th</a:t>
            </a:r>
            <a:r>
              <a:rPr lang="en-US" sz="2434">
                <a:solidFill>
                  <a:srgbClr val="FFFFFF"/>
                </a:solidFill>
                <a:latin typeface="Montserrat"/>
                <a:ea typeface="Montserrat"/>
                <a:cs typeface="Montserrat"/>
                <a:sym typeface="Montserrat"/>
              </a:rPr>
              <a:t>e Goal</a:t>
            </a:r>
          </a:p>
          <a:p>
            <a:pPr algn="l">
              <a:lnSpc>
                <a:spcPts val="2799"/>
              </a:lnSpc>
            </a:pPr>
            <a:r>
              <a:rPr lang="en-US" sz="2434">
                <a:solidFill>
                  <a:srgbClr val="FFFFFF"/>
                </a:solidFill>
                <a:latin typeface="Montserrat"/>
                <a:ea typeface="Montserrat"/>
                <a:cs typeface="Montserrat"/>
                <a:sym typeface="Montserrat"/>
              </a:rPr>
              <a:t>Build a comprehensive framework that measures how significantly model accuracy drops when prompts are subjected to various types of adversarial noise and perturbations.</a:t>
            </a:r>
          </a:p>
          <a:p>
            <a:pPr algn="l">
              <a:lnSpc>
                <a:spcPts val="2799"/>
              </a:lnSpc>
            </a:pPr>
          </a:p>
          <a:p>
            <a:pPr algn="l">
              <a:lnSpc>
                <a:spcPts val="4058"/>
              </a:lnSpc>
            </a:pPr>
          </a:p>
          <a:p>
            <a:pPr algn="l" marL="0" indent="0" lvl="0">
              <a:lnSpc>
                <a:spcPts val="2099"/>
              </a:lnSpc>
            </a:pPr>
          </a:p>
          <a:p>
            <a:pPr algn="l">
              <a:lnSpc>
                <a:spcPts val="2099"/>
              </a:lnSpc>
            </a:pPr>
          </a:p>
        </p:txBody>
      </p:sp>
      <p:sp>
        <p:nvSpPr>
          <p:cNvPr name="TextBox 35" id="35"/>
          <p:cNvSpPr txBox="true"/>
          <p:nvPr/>
        </p:nvSpPr>
        <p:spPr>
          <a:xfrm rot="0">
            <a:off x="12397288" y="4148342"/>
            <a:ext cx="3927617" cy="5044669"/>
          </a:xfrm>
          <a:prstGeom prst="rect">
            <a:avLst/>
          </a:prstGeom>
        </p:spPr>
        <p:txBody>
          <a:bodyPr anchor="t" rtlCol="false" tIns="0" lIns="0" bIns="0" rIns="0">
            <a:spAutoFit/>
          </a:bodyPr>
          <a:lstStyle/>
          <a:p>
            <a:pPr algn="l">
              <a:lnSpc>
                <a:spcPts val="4758"/>
              </a:lnSpc>
            </a:pPr>
            <a:r>
              <a:rPr lang="en-US" sz="4137" b="true">
                <a:solidFill>
                  <a:srgbClr val="FFFFFF"/>
                </a:solidFill>
                <a:latin typeface="Montserrat Bold"/>
                <a:ea typeface="Montserrat Bold"/>
                <a:cs typeface="Montserrat Bold"/>
                <a:sym typeface="Montserrat Bold"/>
              </a:rPr>
              <a:t>The Impact</a:t>
            </a:r>
          </a:p>
          <a:p>
            <a:pPr algn="l">
              <a:lnSpc>
                <a:spcPts val="2239"/>
              </a:lnSpc>
            </a:pPr>
          </a:p>
          <a:p>
            <a:pPr algn="l">
              <a:lnSpc>
                <a:spcPts val="2799"/>
              </a:lnSpc>
            </a:pPr>
            <a:r>
              <a:rPr lang="en-US" sz="2434">
                <a:solidFill>
                  <a:srgbClr val="FFFFFF"/>
                </a:solidFill>
                <a:latin typeface="Montserrat"/>
                <a:ea typeface="Montserrat"/>
                <a:cs typeface="Montserrat"/>
                <a:sym typeface="Montserrat"/>
              </a:rPr>
              <a:t>Th</a:t>
            </a:r>
            <a:r>
              <a:rPr lang="en-US" sz="2434">
                <a:solidFill>
                  <a:srgbClr val="FFFFFF"/>
                </a:solidFill>
                <a:latin typeface="Montserrat"/>
                <a:ea typeface="Montserrat"/>
                <a:cs typeface="Montserrat"/>
                <a:sym typeface="Montserrat"/>
              </a:rPr>
              <a:t>e Impact</a:t>
            </a:r>
          </a:p>
          <a:p>
            <a:pPr algn="l">
              <a:lnSpc>
                <a:spcPts val="2799"/>
              </a:lnSpc>
            </a:pPr>
            <a:r>
              <a:rPr lang="en-US" sz="2434">
                <a:solidFill>
                  <a:srgbClr val="FFFFFF"/>
                </a:solidFill>
                <a:latin typeface="Montserrat"/>
                <a:ea typeface="Montserrat"/>
                <a:cs typeface="Montserrat"/>
                <a:sym typeface="Montserrat"/>
              </a:rPr>
              <a:t>Essential for deploying reliable AI in production environments where user input is unpredictable and potentially malicious.</a:t>
            </a:r>
          </a:p>
          <a:p>
            <a:pPr algn="l">
              <a:lnSpc>
                <a:spcPts val="2799"/>
              </a:lnSpc>
            </a:pPr>
            <a:r>
              <a:rPr lang="en-US" sz="2434">
                <a:solidFill>
                  <a:srgbClr val="FFFFFF"/>
                </a:solidFill>
                <a:latin typeface="Montserrat"/>
                <a:ea typeface="Montserrat"/>
                <a:cs typeface="Montserrat"/>
                <a:sym typeface="Montserrat"/>
              </a:rPr>
              <a:t>.</a:t>
            </a:r>
          </a:p>
          <a:p>
            <a:pPr algn="l">
              <a:lnSpc>
                <a:spcPts val="2799"/>
              </a:lnSpc>
            </a:pPr>
          </a:p>
          <a:p>
            <a:pPr algn="l">
              <a:lnSpc>
                <a:spcPts val="4058"/>
              </a:lnSpc>
            </a:pPr>
          </a:p>
          <a:p>
            <a:pPr algn="l" marL="0" indent="0" lvl="0">
              <a:lnSpc>
                <a:spcPts val="2099"/>
              </a:lnSpc>
            </a:pPr>
          </a:p>
          <a:p>
            <a:pPr algn="l">
              <a:lnSpc>
                <a:spcPts val="2099"/>
              </a:lnSpc>
            </a:pPr>
          </a:p>
        </p:txBody>
      </p:sp>
    </p:spTree>
  </p:cSld>
  <p:clrMapOvr>
    <a:masterClrMapping/>
  </p:clrMapOvr>
  <p:transition spd="fast">
    <p:cover dir="d"/>
  </p:transition>
</p:sld>
</file>

<file path=ppt/slides/slide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25847" y="4607944"/>
            <a:ext cx="8393108" cy="3064762"/>
            <a:chOff x="0" y="0"/>
            <a:chExt cx="2210530" cy="807180"/>
          </a:xfrm>
        </p:grpSpPr>
        <p:sp>
          <p:nvSpPr>
            <p:cNvPr name="Freeform 3" id="3"/>
            <p:cNvSpPr/>
            <p:nvPr/>
          </p:nvSpPr>
          <p:spPr>
            <a:xfrm flipH="false" flipV="false" rot="0">
              <a:off x="0" y="0"/>
              <a:ext cx="2210531" cy="807180"/>
            </a:xfrm>
            <a:custGeom>
              <a:avLst/>
              <a:gdLst/>
              <a:ahLst/>
              <a:cxnLst/>
              <a:rect r="r" b="b" t="t" l="l"/>
              <a:pathLst>
                <a:path h="807180" w="2210531">
                  <a:moveTo>
                    <a:pt x="47043" y="0"/>
                  </a:moveTo>
                  <a:lnTo>
                    <a:pt x="2163488" y="0"/>
                  </a:lnTo>
                  <a:cubicBezTo>
                    <a:pt x="2189469" y="0"/>
                    <a:pt x="2210531" y="21062"/>
                    <a:pt x="2210531" y="47043"/>
                  </a:cubicBezTo>
                  <a:lnTo>
                    <a:pt x="2210531" y="760137"/>
                  </a:lnTo>
                  <a:cubicBezTo>
                    <a:pt x="2210531" y="786118"/>
                    <a:pt x="2189469" y="807180"/>
                    <a:pt x="2163488" y="807180"/>
                  </a:cubicBezTo>
                  <a:lnTo>
                    <a:pt x="47043" y="807180"/>
                  </a:lnTo>
                  <a:cubicBezTo>
                    <a:pt x="21062" y="807180"/>
                    <a:pt x="0" y="786118"/>
                    <a:pt x="0" y="760137"/>
                  </a:cubicBezTo>
                  <a:lnTo>
                    <a:pt x="0" y="47043"/>
                  </a:lnTo>
                  <a:cubicBezTo>
                    <a:pt x="0" y="21062"/>
                    <a:pt x="21062" y="0"/>
                    <a:pt x="47043" y="0"/>
                  </a:cubicBezTo>
                  <a:close/>
                </a:path>
              </a:pathLst>
            </a:custGeom>
            <a:gradFill rotWithShape="true">
              <a:gsLst>
                <a:gs pos="0">
                  <a:srgbClr val="EE581E">
                    <a:alpha val="100000"/>
                  </a:srgbClr>
                </a:gs>
                <a:gs pos="100000">
                  <a:srgbClr val="000000">
                    <a:alpha val="100000"/>
                  </a:srgbClr>
                </a:gs>
              </a:gsLst>
              <a:lin ang="5400000"/>
            </a:gradFill>
          </p:spPr>
        </p:sp>
        <p:sp>
          <p:nvSpPr>
            <p:cNvPr name="TextBox 4" id="4"/>
            <p:cNvSpPr txBox="true"/>
            <p:nvPr/>
          </p:nvSpPr>
          <p:spPr>
            <a:xfrm>
              <a:off x="0" y="47625"/>
              <a:ext cx="2210530" cy="759555"/>
            </a:xfrm>
            <a:prstGeom prst="rect">
              <a:avLst/>
            </a:prstGeom>
          </p:spPr>
          <p:txBody>
            <a:bodyPr anchor="ctr" rtlCol="false" tIns="50800" lIns="50800" bIns="50800" rIns="50800"/>
            <a:lstStyle/>
            <a:p>
              <a:pPr algn="l">
                <a:lnSpc>
                  <a:spcPts val="1200"/>
                </a:lnSpc>
              </a:pPr>
            </a:p>
          </p:txBody>
        </p:sp>
      </p:grpSp>
      <p:sp>
        <p:nvSpPr>
          <p:cNvPr name="TextBox 5" id="5"/>
          <p:cNvSpPr txBox="true"/>
          <p:nvPr/>
        </p:nvSpPr>
        <p:spPr>
          <a:xfrm rot="0">
            <a:off x="1448251" y="2748635"/>
            <a:ext cx="15391498" cy="2020868"/>
          </a:xfrm>
          <a:prstGeom prst="rect">
            <a:avLst/>
          </a:prstGeom>
        </p:spPr>
        <p:txBody>
          <a:bodyPr anchor="t" rtlCol="false" tIns="0" lIns="0" bIns="0" rIns="0">
            <a:spAutoFit/>
          </a:bodyPr>
          <a:lstStyle/>
          <a:p>
            <a:pPr algn="l">
              <a:lnSpc>
                <a:spcPts val="7561"/>
              </a:lnSpc>
            </a:pPr>
            <a:r>
              <a:rPr lang="en-US" sz="7561">
                <a:solidFill>
                  <a:srgbClr val="FFFFFF"/>
                </a:solidFill>
                <a:latin typeface="Poppins"/>
                <a:ea typeface="Poppins"/>
                <a:cs typeface="Poppins"/>
                <a:sym typeface="Poppins"/>
              </a:rPr>
              <a:t>System A</a:t>
            </a:r>
            <a:r>
              <a:rPr lang="en-US" sz="7561">
                <a:solidFill>
                  <a:srgbClr val="FFFFFF"/>
                </a:solidFill>
                <a:latin typeface="Poppins"/>
                <a:ea typeface="Poppins"/>
                <a:cs typeface="Poppins"/>
                <a:sym typeface="Poppins"/>
              </a:rPr>
              <a:t>rchitecture Overview</a:t>
            </a:r>
          </a:p>
          <a:p>
            <a:pPr algn="l">
              <a:lnSpc>
                <a:spcPts val="7561"/>
              </a:lnSpc>
            </a:pPr>
          </a:p>
        </p:txBody>
      </p:sp>
      <p:sp>
        <p:nvSpPr>
          <p:cNvPr name="TextBox 6" id="6"/>
          <p:cNvSpPr txBox="true"/>
          <p:nvPr/>
        </p:nvSpPr>
        <p:spPr>
          <a:xfrm rot="0">
            <a:off x="866494" y="4928121"/>
            <a:ext cx="7511816" cy="2273798"/>
          </a:xfrm>
          <a:prstGeom prst="rect">
            <a:avLst/>
          </a:prstGeom>
        </p:spPr>
        <p:txBody>
          <a:bodyPr anchor="t" rtlCol="false" tIns="0" lIns="0" bIns="0" rIns="0">
            <a:spAutoFit/>
          </a:bodyPr>
          <a:lstStyle/>
          <a:p>
            <a:pPr algn="just" marL="0" indent="0" lvl="0">
              <a:lnSpc>
                <a:spcPts val="3717"/>
              </a:lnSpc>
              <a:spcBef>
                <a:spcPct val="0"/>
              </a:spcBef>
            </a:pPr>
            <a:r>
              <a:rPr lang="en-US" b="true" sz="2655">
                <a:solidFill>
                  <a:srgbClr val="FFFFFF"/>
                </a:solidFill>
                <a:latin typeface="Montserrat Bold"/>
                <a:ea typeface="Montserrat Bold"/>
                <a:cs typeface="Montserrat Bold"/>
                <a:sym typeface="Montserrat Bold"/>
              </a:rPr>
              <a:t>D</a:t>
            </a:r>
            <a:r>
              <a:rPr lang="en-US" b="true" sz="2655">
                <a:solidFill>
                  <a:srgbClr val="FFFFFF"/>
                </a:solidFill>
                <a:latin typeface="Montserrat Bold"/>
                <a:ea typeface="Montserrat Bold"/>
                <a:cs typeface="Montserrat Bold"/>
                <a:sym typeface="Montserrat Bold"/>
              </a:rPr>
              <a:t>ecoupled Design Philosophy</a:t>
            </a:r>
          </a:p>
          <a:p>
            <a:pPr algn="just">
              <a:lnSpc>
                <a:spcPts val="2877"/>
              </a:lnSpc>
              <a:spcBef>
                <a:spcPct val="0"/>
              </a:spcBef>
            </a:pPr>
            <a:r>
              <a:rPr lang="en-US" sz="2055">
                <a:solidFill>
                  <a:srgbClr val="FFFFFF"/>
                </a:solidFill>
                <a:latin typeface="Montserrat"/>
                <a:ea typeface="Montserrat"/>
                <a:cs typeface="Montserrat"/>
                <a:sym typeface="Montserrat"/>
              </a:rPr>
              <a:t>A Python-based backend handles heavy computational workloads while a React-based frontend provides intuitive visualization. This separation ensures scalability and maintainability.</a:t>
            </a:r>
          </a:p>
          <a:p>
            <a:pPr algn="just">
              <a:lnSpc>
                <a:spcPts val="2877"/>
              </a:lnSpc>
              <a:spcBef>
                <a:spcPct val="0"/>
              </a:spcBef>
            </a:pPr>
          </a:p>
        </p:txBody>
      </p:sp>
      <p:grpSp>
        <p:nvGrpSpPr>
          <p:cNvPr name="Group 7" id="7"/>
          <p:cNvGrpSpPr/>
          <p:nvPr/>
        </p:nvGrpSpPr>
        <p:grpSpPr>
          <a:xfrm rot="-5400000">
            <a:off x="20229322" y="5498628"/>
            <a:ext cx="1714493" cy="7976552"/>
            <a:chOff x="0" y="0"/>
            <a:chExt cx="451554" cy="2100820"/>
          </a:xfrm>
        </p:grpSpPr>
        <p:sp>
          <p:nvSpPr>
            <p:cNvPr name="Freeform 8" id="8"/>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9" id="9"/>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0" id="10"/>
          <p:cNvGrpSpPr/>
          <p:nvPr/>
        </p:nvGrpSpPr>
        <p:grpSpPr>
          <a:xfrm rot="-5400000">
            <a:off x="19455934" y="3999715"/>
            <a:ext cx="1714493" cy="7976552"/>
            <a:chOff x="0" y="0"/>
            <a:chExt cx="451554" cy="2100820"/>
          </a:xfrm>
        </p:grpSpPr>
        <p:sp>
          <p:nvSpPr>
            <p:cNvPr name="Freeform 11" id="11"/>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2" id="12"/>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3" id="13"/>
          <p:cNvGrpSpPr/>
          <p:nvPr/>
        </p:nvGrpSpPr>
        <p:grpSpPr>
          <a:xfrm rot="-5400000">
            <a:off x="18548998" y="2495908"/>
            <a:ext cx="1714493" cy="7976552"/>
            <a:chOff x="0" y="0"/>
            <a:chExt cx="451554" cy="2100820"/>
          </a:xfrm>
        </p:grpSpPr>
        <p:sp>
          <p:nvSpPr>
            <p:cNvPr name="Freeform 14" id="14"/>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5" id="15"/>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6" id="16"/>
          <p:cNvGrpSpPr/>
          <p:nvPr/>
        </p:nvGrpSpPr>
        <p:grpSpPr>
          <a:xfrm rot="-5400000">
            <a:off x="17775609" y="996995"/>
            <a:ext cx="1714493" cy="7976552"/>
            <a:chOff x="0" y="0"/>
            <a:chExt cx="451554" cy="2100820"/>
          </a:xfrm>
        </p:grpSpPr>
        <p:sp>
          <p:nvSpPr>
            <p:cNvPr name="Freeform 17" id="17"/>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8" id="18"/>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9" id="19"/>
          <p:cNvGrpSpPr/>
          <p:nvPr/>
        </p:nvGrpSpPr>
        <p:grpSpPr>
          <a:xfrm rot="-5400000">
            <a:off x="17197134" y="-2317679"/>
            <a:ext cx="1714493" cy="7976552"/>
            <a:chOff x="0" y="0"/>
            <a:chExt cx="451554" cy="2100820"/>
          </a:xfrm>
        </p:grpSpPr>
        <p:sp>
          <p:nvSpPr>
            <p:cNvPr name="Freeform 20" id="20"/>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1" id="21"/>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2" id="22"/>
          <p:cNvGrpSpPr/>
          <p:nvPr/>
        </p:nvGrpSpPr>
        <p:grpSpPr>
          <a:xfrm rot="-5400000">
            <a:off x="16581609" y="-3499744"/>
            <a:ext cx="1714493" cy="7976552"/>
            <a:chOff x="0" y="0"/>
            <a:chExt cx="451554" cy="2100820"/>
          </a:xfrm>
        </p:grpSpPr>
        <p:sp>
          <p:nvSpPr>
            <p:cNvPr name="Freeform 23" id="23"/>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4" id="24"/>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5" id="25"/>
          <p:cNvGrpSpPr/>
          <p:nvPr/>
        </p:nvGrpSpPr>
        <p:grpSpPr>
          <a:xfrm rot="0">
            <a:off x="9402544" y="4503871"/>
            <a:ext cx="8393108" cy="3064762"/>
            <a:chOff x="0" y="0"/>
            <a:chExt cx="2210530" cy="807180"/>
          </a:xfrm>
        </p:grpSpPr>
        <p:sp>
          <p:nvSpPr>
            <p:cNvPr name="Freeform 26" id="26"/>
            <p:cNvSpPr/>
            <p:nvPr/>
          </p:nvSpPr>
          <p:spPr>
            <a:xfrm flipH="false" flipV="false" rot="0">
              <a:off x="0" y="0"/>
              <a:ext cx="2210531" cy="807180"/>
            </a:xfrm>
            <a:custGeom>
              <a:avLst/>
              <a:gdLst/>
              <a:ahLst/>
              <a:cxnLst/>
              <a:rect r="r" b="b" t="t" l="l"/>
              <a:pathLst>
                <a:path h="807180" w="2210531">
                  <a:moveTo>
                    <a:pt x="47043" y="0"/>
                  </a:moveTo>
                  <a:lnTo>
                    <a:pt x="2163488" y="0"/>
                  </a:lnTo>
                  <a:cubicBezTo>
                    <a:pt x="2189469" y="0"/>
                    <a:pt x="2210531" y="21062"/>
                    <a:pt x="2210531" y="47043"/>
                  </a:cubicBezTo>
                  <a:lnTo>
                    <a:pt x="2210531" y="760137"/>
                  </a:lnTo>
                  <a:cubicBezTo>
                    <a:pt x="2210531" y="786118"/>
                    <a:pt x="2189469" y="807180"/>
                    <a:pt x="2163488" y="807180"/>
                  </a:cubicBezTo>
                  <a:lnTo>
                    <a:pt x="47043" y="807180"/>
                  </a:lnTo>
                  <a:cubicBezTo>
                    <a:pt x="21062" y="807180"/>
                    <a:pt x="0" y="786118"/>
                    <a:pt x="0" y="760137"/>
                  </a:cubicBezTo>
                  <a:lnTo>
                    <a:pt x="0" y="47043"/>
                  </a:lnTo>
                  <a:cubicBezTo>
                    <a:pt x="0" y="21062"/>
                    <a:pt x="21062" y="0"/>
                    <a:pt x="47043" y="0"/>
                  </a:cubicBezTo>
                  <a:close/>
                </a:path>
              </a:pathLst>
            </a:custGeom>
            <a:gradFill rotWithShape="true">
              <a:gsLst>
                <a:gs pos="0">
                  <a:srgbClr val="EE581E">
                    <a:alpha val="100000"/>
                  </a:srgbClr>
                </a:gs>
                <a:gs pos="100000">
                  <a:srgbClr val="000000">
                    <a:alpha val="100000"/>
                  </a:srgbClr>
                </a:gs>
              </a:gsLst>
              <a:lin ang="5400000"/>
            </a:gradFill>
          </p:spPr>
        </p:sp>
        <p:sp>
          <p:nvSpPr>
            <p:cNvPr name="TextBox 27" id="27"/>
            <p:cNvSpPr txBox="true"/>
            <p:nvPr/>
          </p:nvSpPr>
          <p:spPr>
            <a:xfrm>
              <a:off x="0" y="47625"/>
              <a:ext cx="2210530" cy="759555"/>
            </a:xfrm>
            <a:prstGeom prst="rect">
              <a:avLst/>
            </a:prstGeom>
          </p:spPr>
          <p:txBody>
            <a:bodyPr anchor="ctr" rtlCol="false" tIns="50800" lIns="50800" bIns="50800" rIns="50800"/>
            <a:lstStyle/>
            <a:p>
              <a:pPr algn="l">
                <a:lnSpc>
                  <a:spcPts val="1200"/>
                </a:lnSpc>
              </a:pPr>
            </a:p>
          </p:txBody>
        </p:sp>
      </p:grpSp>
      <p:sp>
        <p:nvSpPr>
          <p:cNvPr name="TextBox 28" id="28"/>
          <p:cNvSpPr txBox="true"/>
          <p:nvPr/>
        </p:nvSpPr>
        <p:spPr>
          <a:xfrm rot="0">
            <a:off x="9747484" y="4856946"/>
            <a:ext cx="7511816" cy="2997698"/>
          </a:xfrm>
          <a:prstGeom prst="rect">
            <a:avLst/>
          </a:prstGeom>
        </p:spPr>
        <p:txBody>
          <a:bodyPr anchor="t" rtlCol="false" tIns="0" lIns="0" bIns="0" rIns="0">
            <a:spAutoFit/>
          </a:bodyPr>
          <a:lstStyle/>
          <a:p>
            <a:pPr algn="just" marL="0" indent="0" lvl="0">
              <a:lnSpc>
                <a:spcPts val="3717"/>
              </a:lnSpc>
              <a:spcBef>
                <a:spcPct val="0"/>
              </a:spcBef>
            </a:pPr>
            <a:r>
              <a:rPr lang="en-US" b="true" sz="2655">
                <a:solidFill>
                  <a:srgbClr val="FFFFFF"/>
                </a:solidFill>
                <a:latin typeface="Montserrat Bold"/>
                <a:ea typeface="Montserrat Bold"/>
                <a:cs typeface="Montserrat Bold"/>
                <a:sym typeface="Montserrat Bold"/>
              </a:rPr>
              <a:t>Data</a:t>
            </a:r>
            <a:r>
              <a:rPr lang="en-US" b="true" sz="2655">
                <a:solidFill>
                  <a:srgbClr val="FFFFFF"/>
                </a:solidFill>
                <a:latin typeface="Montserrat Bold"/>
                <a:ea typeface="Montserrat Bold"/>
                <a:cs typeface="Montserrat Bold"/>
                <a:sym typeface="Montserrat Bold"/>
              </a:rPr>
              <a:t> Flow</a:t>
            </a:r>
          </a:p>
          <a:p>
            <a:pPr algn="just" marL="0" indent="0" lvl="0">
              <a:lnSpc>
                <a:spcPts val="2877"/>
              </a:lnSpc>
              <a:spcBef>
                <a:spcPct val="0"/>
              </a:spcBef>
            </a:pPr>
            <a:r>
              <a:rPr lang="en-US" b="true" sz="2055">
                <a:solidFill>
                  <a:srgbClr val="FFFFFF"/>
                </a:solidFill>
                <a:latin typeface="Montserrat Bold"/>
                <a:ea typeface="Montserrat Bold"/>
                <a:cs typeface="Montserrat Bold"/>
                <a:sym typeface="Montserrat Bold"/>
              </a:rPr>
              <a:t>C</a:t>
            </a:r>
            <a:r>
              <a:rPr lang="en-US" sz="2055">
                <a:solidFill>
                  <a:srgbClr val="FFFFFF"/>
                </a:solidFill>
                <a:latin typeface="Montserrat"/>
                <a:ea typeface="Montserrat"/>
                <a:cs typeface="Montserrat"/>
                <a:sym typeface="Montserrat"/>
              </a:rPr>
              <a:t>ommand Line Interface feeds into the Attack Engine, which generates perturbed prompts. The Model Factory routes requests to target LLMs, then the Scoring Engine evaluates outputs and writes results.csv for the Frontend Dashboard.</a:t>
            </a:r>
          </a:p>
          <a:p>
            <a:pPr algn="just">
              <a:lnSpc>
                <a:spcPts val="2877"/>
              </a:lnSpc>
              <a:spcBef>
                <a:spcPct val="0"/>
              </a:spcBef>
            </a:pPr>
          </a:p>
          <a:p>
            <a:pPr algn="just">
              <a:lnSpc>
                <a:spcPts val="2877"/>
              </a:lnSpc>
              <a:spcBef>
                <a:spcPct val="0"/>
              </a:spcBef>
            </a:pPr>
          </a:p>
        </p:txBody>
      </p:sp>
    </p:spTree>
  </p:cSld>
  <p:clrMapOvr>
    <a:masterClrMapping/>
  </p:clrMapOvr>
  <p:transition spd="fast">
    <p:cover dir="d"/>
  </p:transition>
</p:sld>
</file>

<file path=ppt/slides/slide4.xml><?xml version="1.0" encoding="utf-8"?>
<p:sld xmlns:p="http://schemas.openxmlformats.org/presentationml/2006/main" xmlns:a="http://schemas.openxmlformats.org/drawingml/2006/main">
  <p:cSld>
    <p:bg>
      <p:bgPr>
        <a:solidFill>
          <a:srgbClr val="0B0B0B"/>
        </a:solidFill>
      </p:bgPr>
    </p:bg>
    <p:spTree>
      <p:nvGrpSpPr>
        <p:cNvPr id="1" name=""/>
        <p:cNvGrpSpPr/>
        <p:nvPr/>
      </p:nvGrpSpPr>
      <p:grpSpPr>
        <a:xfrm>
          <a:off x="0" y="0"/>
          <a:ext cx="0" cy="0"/>
          <a:chOff x="0" y="0"/>
          <a:chExt cx="0" cy="0"/>
        </a:xfrm>
      </p:grpSpPr>
      <p:grpSp>
        <p:nvGrpSpPr>
          <p:cNvPr name="Group 2" id="2"/>
          <p:cNvGrpSpPr/>
          <p:nvPr/>
        </p:nvGrpSpPr>
        <p:grpSpPr>
          <a:xfrm rot="0">
            <a:off x="1028700" y="1636229"/>
            <a:ext cx="3280787" cy="653150"/>
            <a:chOff x="0" y="0"/>
            <a:chExt cx="1168248" cy="232579"/>
          </a:xfrm>
        </p:grpSpPr>
        <p:sp>
          <p:nvSpPr>
            <p:cNvPr name="Freeform 3" id="3"/>
            <p:cNvSpPr/>
            <p:nvPr/>
          </p:nvSpPr>
          <p:spPr>
            <a:xfrm flipH="false" flipV="false" rot="0">
              <a:off x="0" y="0"/>
              <a:ext cx="1168248" cy="232579"/>
            </a:xfrm>
            <a:custGeom>
              <a:avLst/>
              <a:gdLst/>
              <a:ahLst/>
              <a:cxnLst/>
              <a:rect r="r" b="b" t="t" l="l"/>
              <a:pathLst>
                <a:path h="232579" w="1168248">
                  <a:moveTo>
                    <a:pt x="0" y="0"/>
                  </a:moveTo>
                  <a:lnTo>
                    <a:pt x="1168248" y="0"/>
                  </a:lnTo>
                  <a:lnTo>
                    <a:pt x="1168248" y="232579"/>
                  </a:lnTo>
                  <a:lnTo>
                    <a:pt x="0" y="232579"/>
                  </a:lnTo>
                  <a:close/>
                </a:path>
              </a:pathLst>
            </a:custGeom>
            <a:gradFill rotWithShape="true">
              <a:gsLst>
                <a:gs pos="0">
                  <a:srgbClr val="EE581E">
                    <a:alpha val="100000"/>
                  </a:srgbClr>
                </a:gs>
                <a:gs pos="100000">
                  <a:srgbClr val="000000">
                    <a:alpha val="100000"/>
                  </a:srgbClr>
                </a:gs>
              </a:gsLst>
              <a:lin ang="5400000"/>
            </a:gradFill>
            <a:ln cap="sq">
              <a:noFill/>
              <a:prstDash val="solid"/>
              <a:miter/>
            </a:ln>
          </p:spPr>
        </p:sp>
        <p:sp>
          <p:nvSpPr>
            <p:cNvPr name="TextBox 4" id="4"/>
            <p:cNvSpPr txBox="true"/>
            <p:nvPr/>
          </p:nvSpPr>
          <p:spPr>
            <a:xfrm>
              <a:off x="0" y="-57150"/>
              <a:ext cx="1168248" cy="289729"/>
            </a:xfrm>
            <a:prstGeom prst="rect">
              <a:avLst/>
            </a:prstGeom>
          </p:spPr>
          <p:txBody>
            <a:bodyPr anchor="ctr" rtlCol="false" tIns="37573" lIns="37573" bIns="37573" rIns="37573"/>
            <a:lstStyle/>
            <a:p>
              <a:pPr algn="ctr">
                <a:lnSpc>
                  <a:spcPts val="2379"/>
                </a:lnSpc>
              </a:pPr>
            </a:p>
          </p:txBody>
        </p:sp>
      </p:grpSp>
      <p:grpSp>
        <p:nvGrpSpPr>
          <p:cNvPr name="Group 5" id="5"/>
          <p:cNvGrpSpPr/>
          <p:nvPr/>
        </p:nvGrpSpPr>
        <p:grpSpPr>
          <a:xfrm rot="0">
            <a:off x="1042575" y="4489072"/>
            <a:ext cx="3280787" cy="653150"/>
            <a:chOff x="0" y="0"/>
            <a:chExt cx="1168248" cy="232579"/>
          </a:xfrm>
        </p:grpSpPr>
        <p:sp>
          <p:nvSpPr>
            <p:cNvPr name="Freeform 6" id="6"/>
            <p:cNvSpPr/>
            <p:nvPr/>
          </p:nvSpPr>
          <p:spPr>
            <a:xfrm flipH="false" flipV="false" rot="0">
              <a:off x="0" y="0"/>
              <a:ext cx="1168248" cy="232579"/>
            </a:xfrm>
            <a:custGeom>
              <a:avLst/>
              <a:gdLst/>
              <a:ahLst/>
              <a:cxnLst/>
              <a:rect r="r" b="b" t="t" l="l"/>
              <a:pathLst>
                <a:path h="232579" w="1168248">
                  <a:moveTo>
                    <a:pt x="0" y="0"/>
                  </a:moveTo>
                  <a:lnTo>
                    <a:pt x="1168248" y="0"/>
                  </a:lnTo>
                  <a:lnTo>
                    <a:pt x="1168248" y="232579"/>
                  </a:lnTo>
                  <a:lnTo>
                    <a:pt x="0" y="232579"/>
                  </a:lnTo>
                  <a:close/>
                </a:path>
              </a:pathLst>
            </a:custGeom>
            <a:gradFill rotWithShape="true">
              <a:gsLst>
                <a:gs pos="0">
                  <a:srgbClr val="EE581E">
                    <a:alpha val="100000"/>
                  </a:srgbClr>
                </a:gs>
                <a:gs pos="100000">
                  <a:srgbClr val="000000">
                    <a:alpha val="100000"/>
                  </a:srgbClr>
                </a:gs>
              </a:gsLst>
              <a:lin ang="5400000"/>
            </a:gradFill>
            <a:ln cap="sq">
              <a:noFill/>
              <a:prstDash val="solid"/>
              <a:miter/>
            </a:ln>
          </p:spPr>
        </p:sp>
        <p:sp>
          <p:nvSpPr>
            <p:cNvPr name="TextBox 7" id="7"/>
            <p:cNvSpPr txBox="true"/>
            <p:nvPr/>
          </p:nvSpPr>
          <p:spPr>
            <a:xfrm>
              <a:off x="0" y="-57150"/>
              <a:ext cx="1168248" cy="289729"/>
            </a:xfrm>
            <a:prstGeom prst="rect">
              <a:avLst/>
            </a:prstGeom>
          </p:spPr>
          <p:txBody>
            <a:bodyPr anchor="ctr" rtlCol="false" tIns="37573" lIns="37573" bIns="37573" rIns="37573"/>
            <a:lstStyle/>
            <a:p>
              <a:pPr algn="ctr">
                <a:lnSpc>
                  <a:spcPts val="2379"/>
                </a:lnSpc>
              </a:pPr>
            </a:p>
          </p:txBody>
        </p:sp>
      </p:grpSp>
      <p:grpSp>
        <p:nvGrpSpPr>
          <p:cNvPr name="Group 8" id="8"/>
          <p:cNvGrpSpPr/>
          <p:nvPr/>
        </p:nvGrpSpPr>
        <p:grpSpPr>
          <a:xfrm rot="0">
            <a:off x="1028700" y="7341916"/>
            <a:ext cx="3280787" cy="653150"/>
            <a:chOff x="0" y="0"/>
            <a:chExt cx="1168248" cy="232579"/>
          </a:xfrm>
        </p:grpSpPr>
        <p:sp>
          <p:nvSpPr>
            <p:cNvPr name="Freeform 9" id="9"/>
            <p:cNvSpPr/>
            <p:nvPr/>
          </p:nvSpPr>
          <p:spPr>
            <a:xfrm flipH="false" flipV="false" rot="0">
              <a:off x="0" y="0"/>
              <a:ext cx="1168248" cy="232579"/>
            </a:xfrm>
            <a:custGeom>
              <a:avLst/>
              <a:gdLst/>
              <a:ahLst/>
              <a:cxnLst/>
              <a:rect r="r" b="b" t="t" l="l"/>
              <a:pathLst>
                <a:path h="232579" w="1168248">
                  <a:moveTo>
                    <a:pt x="0" y="0"/>
                  </a:moveTo>
                  <a:lnTo>
                    <a:pt x="1168248" y="0"/>
                  </a:lnTo>
                  <a:lnTo>
                    <a:pt x="1168248" y="232579"/>
                  </a:lnTo>
                  <a:lnTo>
                    <a:pt x="0" y="232579"/>
                  </a:lnTo>
                  <a:close/>
                </a:path>
              </a:pathLst>
            </a:custGeom>
            <a:gradFill rotWithShape="true">
              <a:gsLst>
                <a:gs pos="0">
                  <a:srgbClr val="EE581E">
                    <a:alpha val="100000"/>
                  </a:srgbClr>
                </a:gs>
                <a:gs pos="100000">
                  <a:srgbClr val="000000">
                    <a:alpha val="100000"/>
                  </a:srgbClr>
                </a:gs>
              </a:gsLst>
              <a:lin ang="5400000"/>
            </a:gradFill>
            <a:ln cap="sq">
              <a:noFill/>
              <a:prstDash val="solid"/>
              <a:miter/>
            </a:ln>
          </p:spPr>
        </p:sp>
        <p:sp>
          <p:nvSpPr>
            <p:cNvPr name="TextBox 10" id="10"/>
            <p:cNvSpPr txBox="true"/>
            <p:nvPr/>
          </p:nvSpPr>
          <p:spPr>
            <a:xfrm>
              <a:off x="0" y="-57150"/>
              <a:ext cx="1168248" cy="289729"/>
            </a:xfrm>
            <a:prstGeom prst="rect">
              <a:avLst/>
            </a:prstGeom>
          </p:spPr>
          <p:txBody>
            <a:bodyPr anchor="ctr" rtlCol="false" tIns="37573" lIns="37573" bIns="37573" rIns="37573"/>
            <a:lstStyle/>
            <a:p>
              <a:pPr algn="ctr">
                <a:lnSpc>
                  <a:spcPts val="2379"/>
                </a:lnSpc>
              </a:pPr>
            </a:p>
          </p:txBody>
        </p:sp>
      </p:grpSp>
      <p:grpSp>
        <p:nvGrpSpPr>
          <p:cNvPr name="Group 11" id="11"/>
          <p:cNvGrpSpPr/>
          <p:nvPr/>
        </p:nvGrpSpPr>
        <p:grpSpPr>
          <a:xfrm rot="0">
            <a:off x="10490201" y="1028700"/>
            <a:ext cx="3510734" cy="3786948"/>
            <a:chOff x="0" y="0"/>
            <a:chExt cx="924638" cy="997385"/>
          </a:xfrm>
        </p:grpSpPr>
        <p:sp>
          <p:nvSpPr>
            <p:cNvPr name="Freeform 12" id="12"/>
            <p:cNvSpPr/>
            <p:nvPr/>
          </p:nvSpPr>
          <p:spPr>
            <a:xfrm flipH="false" flipV="false" rot="0">
              <a:off x="0" y="0"/>
              <a:ext cx="924638" cy="997385"/>
            </a:xfrm>
            <a:custGeom>
              <a:avLst/>
              <a:gdLst/>
              <a:ahLst/>
              <a:cxnLst/>
              <a:rect r="r" b="b" t="t" l="l"/>
              <a:pathLst>
                <a:path h="997385" w="924638">
                  <a:moveTo>
                    <a:pt x="0" y="0"/>
                  </a:moveTo>
                  <a:lnTo>
                    <a:pt x="924638" y="0"/>
                  </a:lnTo>
                  <a:lnTo>
                    <a:pt x="924638" y="997385"/>
                  </a:lnTo>
                  <a:lnTo>
                    <a:pt x="0" y="997385"/>
                  </a:lnTo>
                  <a:close/>
                </a:path>
              </a:pathLst>
            </a:custGeom>
            <a:solidFill>
              <a:srgbClr val="0B0B0B"/>
            </a:solidFill>
          </p:spPr>
        </p:sp>
        <p:sp>
          <p:nvSpPr>
            <p:cNvPr name="TextBox 13" id="13"/>
            <p:cNvSpPr txBox="true"/>
            <p:nvPr/>
          </p:nvSpPr>
          <p:spPr>
            <a:xfrm>
              <a:off x="0" y="-38100"/>
              <a:ext cx="924638" cy="1035485"/>
            </a:xfrm>
            <a:prstGeom prst="rect">
              <a:avLst/>
            </a:prstGeom>
          </p:spPr>
          <p:txBody>
            <a:bodyPr anchor="ctr" rtlCol="false" tIns="50800" lIns="50800" bIns="50800" rIns="50800"/>
            <a:lstStyle/>
            <a:p>
              <a:pPr algn="ctr">
                <a:lnSpc>
                  <a:spcPts val="3180"/>
                </a:lnSpc>
              </a:pPr>
            </a:p>
          </p:txBody>
        </p:sp>
      </p:grpSp>
      <p:grpSp>
        <p:nvGrpSpPr>
          <p:cNvPr name="Group 14" id="14"/>
          <p:cNvGrpSpPr/>
          <p:nvPr/>
        </p:nvGrpSpPr>
        <p:grpSpPr>
          <a:xfrm rot="0">
            <a:off x="10490201" y="5897200"/>
            <a:ext cx="4629150" cy="3369189"/>
            <a:chOff x="0" y="0"/>
            <a:chExt cx="1219200" cy="887358"/>
          </a:xfrm>
        </p:grpSpPr>
        <p:sp>
          <p:nvSpPr>
            <p:cNvPr name="Freeform 15" id="15"/>
            <p:cNvSpPr/>
            <p:nvPr/>
          </p:nvSpPr>
          <p:spPr>
            <a:xfrm flipH="false" flipV="false" rot="0">
              <a:off x="0" y="0"/>
              <a:ext cx="1219200" cy="887358"/>
            </a:xfrm>
            <a:custGeom>
              <a:avLst/>
              <a:gdLst/>
              <a:ahLst/>
              <a:cxnLst/>
              <a:rect r="r" b="b" t="t" l="l"/>
              <a:pathLst>
                <a:path h="887358" w="1219200">
                  <a:moveTo>
                    <a:pt x="0" y="0"/>
                  </a:moveTo>
                  <a:lnTo>
                    <a:pt x="1219200" y="0"/>
                  </a:lnTo>
                  <a:lnTo>
                    <a:pt x="1219200" y="887358"/>
                  </a:lnTo>
                  <a:lnTo>
                    <a:pt x="0" y="887358"/>
                  </a:lnTo>
                  <a:close/>
                </a:path>
              </a:pathLst>
            </a:custGeom>
            <a:solidFill>
              <a:srgbClr val="0B0B0B"/>
            </a:solidFill>
          </p:spPr>
        </p:sp>
        <p:sp>
          <p:nvSpPr>
            <p:cNvPr name="TextBox 16" id="16"/>
            <p:cNvSpPr txBox="true"/>
            <p:nvPr/>
          </p:nvSpPr>
          <p:spPr>
            <a:xfrm>
              <a:off x="0" y="-38100"/>
              <a:ext cx="1219200" cy="925458"/>
            </a:xfrm>
            <a:prstGeom prst="rect">
              <a:avLst/>
            </a:prstGeom>
          </p:spPr>
          <p:txBody>
            <a:bodyPr anchor="ctr" rtlCol="false" tIns="50800" lIns="50800" bIns="50800" rIns="50800"/>
            <a:lstStyle/>
            <a:p>
              <a:pPr algn="ctr">
                <a:lnSpc>
                  <a:spcPts val="3180"/>
                </a:lnSpc>
              </a:pPr>
            </a:p>
          </p:txBody>
        </p:sp>
      </p:grpSp>
      <p:sp>
        <p:nvSpPr>
          <p:cNvPr name="TextBox 17" id="17"/>
          <p:cNvSpPr txBox="true"/>
          <p:nvPr/>
        </p:nvSpPr>
        <p:spPr>
          <a:xfrm rot="0">
            <a:off x="10358048" y="2175079"/>
            <a:ext cx="6601231" cy="3274365"/>
          </a:xfrm>
          <a:prstGeom prst="rect">
            <a:avLst/>
          </a:prstGeom>
        </p:spPr>
        <p:txBody>
          <a:bodyPr anchor="t" rtlCol="false" tIns="0" lIns="0" bIns="0" rIns="0">
            <a:spAutoFit/>
          </a:bodyPr>
          <a:lstStyle/>
          <a:p>
            <a:pPr algn="l">
              <a:lnSpc>
                <a:spcPts val="8768"/>
              </a:lnSpc>
            </a:pPr>
            <a:r>
              <a:rPr lang="en-US" sz="6263">
                <a:solidFill>
                  <a:srgbClr val="EEEEEE"/>
                </a:solidFill>
                <a:latin typeface="Anton"/>
                <a:ea typeface="Anton"/>
                <a:cs typeface="Anton"/>
                <a:sym typeface="Anton"/>
              </a:rPr>
              <a:t>Technology</a:t>
            </a:r>
            <a:r>
              <a:rPr lang="en-US" sz="6263">
                <a:solidFill>
                  <a:srgbClr val="EEEEEE"/>
                </a:solidFill>
                <a:latin typeface="Anton"/>
                <a:ea typeface="Anton"/>
                <a:cs typeface="Anton"/>
                <a:sym typeface="Anton"/>
              </a:rPr>
              <a:t> </a:t>
            </a:r>
          </a:p>
          <a:p>
            <a:pPr algn="l">
              <a:lnSpc>
                <a:spcPts val="8768"/>
              </a:lnSpc>
            </a:pPr>
            <a:r>
              <a:rPr lang="en-US" sz="6263">
                <a:solidFill>
                  <a:srgbClr val="EEEEEE"/>
                </a:solidFill>
                <a:latin typeface="Anton"/>
                <a:ea typeface="Anton"/>
                <a:cs typeface="Anton"/>
                <a:sym typeface="Anton"/>
              </a:rPr>
              <a:t>Stack</a:t>
            </a:r>
          </a:p>
          <a:p>
            <a:pPr algn="l">
              <a:lnSpc>
                <a:spcPts val="8768"/>
              </a:lnSpc>
              <a:spcBef>
                <a:spcPct val="0"/>
              </a:spcBef>
            </a:pPr>
          </a:p>
        </p:txBody>
      </p:sp>
      <p:sp>
        <p:nvSpPr>
          <p:cNvPr name="TextBox 18" id="18"/>
          <p:cNvSpPr txBox="true"/>
          <p:nvPr/>
        </p:nvSpPr>
        <p:spPr>
          <a:xfrm rot="0">
            <a:off x="1216297" y="1753014"/>
            <a:ext cx="2905593" cy="750394"/>
          </a:xfrm>
          <a:prstGeom prst="rect">
            <a:avLst/>
          </a:prstGeom>
        </p:spPr>
        <p:txBody>
          <a:bodyPr anchor="t" rtlCol="false" tIns="0" lIns="0" bIns="0" rIns="0">
            <a:spAutoFit/>
          </a:bodyPr>
          <a:lstStyle/>
          <a:p>
            <a:pPr algn="ctr">
              <a:lnSpc>
                <a:spcPts val="2982"/>
              </a:lnSpc>
            </a:pPr>
            <a:r>
              <a:rPr lang="en-US" sz="2130" b="true">
                <a:solidFill>
                  <a:srgbClr val="FFFFFF"/>
                </a:solidFill>
                <a:latin typeface="Work Sans Bold"/>
                <a:ea typeface="Work Sans Bold"/>
                <a:cs typeface="Work Sans Bold"/>
                <a:sym typeface="Work Sans Bold"/>
              </a:rPr>
              <a:t>Backend</a:t>
            </a:r>
            <a:r>
              <a:rPr lang="en-US" b="true" sz="2130">
                <a:solidFill>
                  <a:srgbClr val="FFFFFF"/>
                </a:solidFill>
                <a:latin typeface="Work Sans Bold"/>
                <a:ea typeface="Work Sans Bold"/>
                <a:cs typeface="Work Sans Bold"/>
                <a:sym typeface="Work Sans Bold"/>
              </a:rPr>
              <a:t> Engine</a:t>
            </a:r>
          </a:p>
          <a:p>
            <a:pPr algn="ctr">
              <a:lnSpc>
                <a:spcPts val="2982"/>
              </a:lnSpc>
              <a:spcBef>
                <a:spcPct val="0"/>
              </a:spcBef>
            </a:pPr>
          </a:p>
        </p:txBody>
      </p:sp>
      <p:sp>
        <p:nvSpPr>
          <p:cNvPr name="TextBox 19" id="19"/>
          <p:cNvSpPr txBox="true"/>
          <p:nvPr/>
        </p:nvSpPr>
        <p:spPr>
          <a:xfrm rot="0">
            <a:off x="1345998" y="2148384"/>
            <a:ext cx="8232829" cy="2207338"/>
          </a:xfrm>
          <a:prstGeom prst="rect">
            <a:avLst/>
          </a:prstGeom>
        </p:spPr>
        <p:txBody>
          <a:bodyPr anchor="t" rtlCol="false" tIns="0" lIns="0" bIns="0" rIns="0">
            <a:spAutoFit/>
          </a:bodyPr>
          <a:lstStyle/>
          <a:p>
            <a:pPr algn="l">
              <a:lnSpc>
                <a:spcPts val="2903"/>
              </a:lnSpc>
            </a:pPr>
          </a:p>
          <a:p>
            <a:pPr algn="l" marL="447745" indent="-223873" lvl="1">
              <a:lnSpc>
                <a:spcPts val="2903"/>
              </a:lnSpc>
              <a:buFont typeface="Arial"/>
              <a:buChar char="•"/>
            </a:pPr>
            <a:r>
              <a:rPr lang="en-US" sz="2073">
                <a:solidFill>
                  <a:srgbClr val="FFFFFF"/>
                </a:solidFill>
                <a:latin typeface="Work Sans"/>
                <a:ea typeface="Work Sans"/>
                <a:cs typeface="Work Sans"/>
                <a:sym typeface="Work Sans"/>
              </a:rPr>
              <a:t>Python 3.11+ core implementation</a:t>
            </a:r>
          </a:p>
          <a:p>
            <a:pPr algn="l" marL="447745" indent="-223873" lvl="1">
              <a:lnSpc>
                <a:spcPts val="2903"/>
              </a:lnSpc>
              <a:buFont typeface="Arial"/>
              <a:buChar char="•"/>
            </a:pPr>
            <a:r>
              <a:rPr lang="en-US" sz="2073">
                <a:solidFill>
                  <a:srgbClr val="FFFFFF"/>
                </a:solidFill>
                <a:latin typeface="Work Sans"/>
                <a:ea typeface="Work Sans"/>
                <a:cs typeface="Work Sans"/>
                <a:sym typeface="Work Sans"/>
              </a:rPr>
              <a:t>Pandas for data manipulation</a:t>
            </a:r>
          </a:p>
          <a:p>
            <a:pPr algn="l" marL="447745" indent="-223873" lvl="1">
              <a:lnSpc>
                <a:spcPts val="2903"/>
              </a:lnSpc>
              <a:buFont typeface="Arial"/>
              <a:buChar char="•"/>
            </a:pPr>
            <a:r>
              <a:rPr lang="en-US" sz="2073">
                <a:solidFill>
                  <a:srgbClr val="FFFFFF"/>
                </a:solidFill>
                <a:latin typeface="Work Sans"/>
                <a:ea typeface="Work Sans"/>
                <a:cs typeface="Work Sans"/>
                <a:sym typeface="Work Sans"/>
              </a:rPr>
              <a:t>Matplotlib &amp; Seaborn for visualizations</a:t>
            </a:r>
          </a:p>
          <a:p>
            <a:pPr algn="l" marL="447745" indent="-223873" lvl="1">
              <a:lnSpc>
                <a:spcPts val="2903"/>
              </a:lnSpc>
              <a:buFont typeface="Arial"/>
              <a:buChar char="•"/>
            </a:pPr>
            <a:r>
              <a:rPr lang="en-US" sz="2073">
                <a:solidFill>
                  <a:srgbClr val="FFFFFF"/>
                </a:solidFill>
                <a:latin typeface="Work Sans"/>
                <a:ea typeface="Work Sans"/>
                <a:cs typeface="Work Sans"/>
                <a:sym typeface="Work Sans"/>
              </a:rPr>
              <a:t>Sentence-Transformers for semantic similarity</a:t>
            </a:r>
          </a:p>
          <a:p>
            <a:pPr algn="l">
              <a:lnSpc>
                <a:spcPts val="2903"/>
              </a:lnSpc>
              <a:spcBef>
                <a:spcPct val="0"/>
              </a:spcBef>
            </a:pPr>
          </a:p>
        </p:txBody>
      </p:sp>
      <p:sp>
        <p:nvSpPr>
          <p:cNvPr name="TextBox 20" id="20"/>
          <p:cNvSpPr txBox="true"/>
          <p:nvPr/>
        </p:nvSpPr>
        <p:spPr>
          <a:xfrm rot="0">
            <a:off x="1230172" y="4605858"/>
            <a:ext cx="2905593" cy="750394"/>
          </a:xfrm>
          <a:prstGeom prst="rect">
            <a:avLst/>
          </a:prstGeom>
        </p:spPr>
        <p:txBody>
          <a:bodyPr anchor="t" rtlCol="false" tIns="0" lIns="0" bIns="0" rIns="0">
            <a:spAutoFit/>
          </a:bodyPr>
          <a:lstStyle/>
          <a:p>
            <a:pPr algn="ctr">
              <a:lnSpc>
                <a:spcPts val="2982"/>
              </a:lnSpc>
            </a:pPr>
            <a:r>
              <a:rPr lang="en-US" sz="2130" b="true">
                <a:solidFill>
                  <a:srgbClr val="FFFFFF"/>
                </a:solidFill>
                <a:latin typeface="Work Sans Bold"/>
                <a:ea typeface="Work Sans Bold"/>
                <a:cs typeface="Work Sans Bold"/>
                <a:sym typeface="Work Sans Bold"/>
              </a:rPr>
              <a:t>Frontend</a:t>
            </a:r>
            <a:r>
              <a:rPr lang="en-US" b="true" sz="2130">
                <a:solidFill>
                  <a:srgbClr val="FFFFFF"/>
                </a:solidFill>
                <a:latin typeface="Work Sans Bold"/>
                <a:ea typeface="Work Sans Bold"/>
                <a:cs typeface="Work Sans Bold"/>
                <a:sym typeface="Work Sans Bold"/>
              </a:rPr>
              <a:t> Interface</a:t>
            </a:r>
          </a:p>
          <a:p>
            <a:pPr algn="ctr">
              <a:lnSpc>
                <a:spcPts val="2982"/>
              </a:lnSpc>
              <a:spcBef>
                <a:spcPct val="0"/>
              </a:spcBef>
            </a:pPr>
          </a:p>
        </p:txBody>
      </p:sp>
      <p:sp>
        <p:nvSpPr>
          <p:cNvPr name="TextBox 21" id="21"/>
          <p:cNvSpPr txBox="true"/>
          <p:nvPr/>
        </p:nvSpPr>
        <p:spPr>
          <a:xfrm rot="0">
            <a:off x="1345998" y="5282575"/>
            <a:ext cx="8383411" cy="1871364"/>
          </a:xfrm>
          <a:prstGeom prst="rect">
            <a:avLst/>
          </a:prstGeom>
        </p:spPr>
        <p:txBody>
          <a:bodyPr anchor="t" rtlCol="false" tIns="0" lIns="0" bIns="0" rIns="0">
            <a:spAutoFit/>
          </a:bodyPr>
          <a:lstStyle/>
          <a:p>
            <a:pPr algn="l" marL="455935" indent="-227967" lvl="1">
              <a:lnSpc>
                <a:spcPts val="2956"/>
              </a:lnSpc>
              <a:spcBef>
                <a:spcPct val="0"/>
              </a:spcBef>
              <a:buFont typeface="Arial"/>
              <a:buChar char="•"/>
            </a:pPr>
            <a:r>
              <a:rPr lang="en-US" sz="2111">
                <a:solidFill>
                  <a:srgbClr val="FFFFFF"/>
                </a:solidFill>
                <a:latin typeface="Work Sans"/>
                <a:ea typeface="Work Sans"/>
                <a:cs typeface="Work Sans"/>
                <a:sym typeface="Work Sans"/>
              </a:rPr>
              <a:t>R</a:t>
            </a:r>
            <a:r>
              <a:rPr lang="en-US" sz="2111">
                <a:solidFill>
                  <a:srgbClr val="FFFFFF"/>
                </a:solidFill>
                <a:latin typeface="Work Sans"/>
                <a:ea typeface="Work Sans"/>
                <a:cs typeface="Work Sans"/>
                <a:sym typeface="Work Sans"/>
              </a:rPr>
              <a:t>eact 18 for component architecture</a:t>
            </a:r>
          </a:p>
          <a:p>
            <a:pPr algn="l" marL="455935" indent="-227967" lvl="1">
              <a:lnSpc>
                <a:spcPts val="2956"/>
              </a:lnSpc>
              <a:spcBef>
                <a:spcPct val="0"/>
              </a:spcBef>
              <a:buFont typeface="Arial"/>
              <a:buChar char="•"/>
            </a:pPr>
            <a:r>
              <a:rPr lang="en-US" sz="2111">
                <a:solidFill>
                  <a:srgbClr val="FFFFFF"/>
                </a:solidFill>
                <a:latin typeface="Work Sans"/>
                <a:ea typeface="Work Sans"/>
                <a:cs typeface="Work Sans"/>
                <a:sym typeface="Work Sans"/>
              </a:rPr>
              <a:t>Vite as build tool</a:t>
            </a:r>
          </a:p>
          <a:p>
            <a:pPr algn="l" marL="455935" indent="-227967" lvl="1">
              <a:lnSpc>
                <a:spcPts val="2956"/>
              </a:lnSpc>
              <a:spcBef>
                <a:spcPct val="0"/>
              </a:spcBef>
              <a:buFont typeface="Arial"/>
              <a:buChar char="•"/>
            </a:pPr>
            <a:r>
              <a:rPr lang="en-US" sz="2111">
                <a:solidFill>
                  <a:srgbClr val="FFFFFF"/>
                </a:solidFill>
                <a:latin typeface="Work Sans"/>
                <a:ea typeface="Work Sans"/>
                <a:cs typeface="Work Sans"/>
                <a:sym typeface="Work Sans"/>
              </a:rPr>
              <a:t>Vanilla CSS for terminal aesthetic</a:t>
            </a:r>
          </a:p>
          <a:p>
            <a:pPr algn="l" marL="455935" indent="-227967" lvl="1">
              <a:lnSpc>
                <a:spcPts val="2956"/>
              </a:lnSpc>
              <a:spcBef>
                <a:spcPct val="0"/>
              </a:spcBef>
              <a:buFont typeface="Arial"/>
              <a:buChar char="•"/>
            </a:pPr>
            <a:r>
              <a:rPr lang="en-US" sz="2111">
                <a:solidFill>
                  <a:srgbClr val="FFFFFF"/>
                </a:solidFill>
                <a:latin typeface="Work Sans"/>
                <a:ea typeface="Work Sans"/>
                <a:cs typeface="Work Sans"/>
                <a:sym typeface="Work Sans"/>
              </a:rPr>
              <a:t>Real-time dashboard updates</a:t>
            </a:r>
          </a:p>
          <a:p>
            <a:pPr algn="l">
              <a:lnSpc>
                <a:spcPts val="2956"/>
              </a:lnSpc>
              <a:spcBef>
                <a:spcPct val="0"/>
              </a:spcBef>
            </a:pPr>
          </a:p>
        </p:txBody>
      </p:sp>
      <p:sp>
        <p:nvSpPr>
          <p:cNvPr name="TextBox 22" id="22"/>
          <p:cNvSpPr txBox="true"/>
          <p:nvPr/>
        </p:nvSpPr>
        <p:spPr>
          <a:xfrm rot="0">
            <a:off x="1216297" y="7458701"/>
            <a:ext cx="2905593" cy="750394"/>
          </a:xfrm>
          <a:prstGeom prst="rect">
            <a:avLst/>
          </a:prstGeom>
        </p:spPr>
        <p:txBody>
          <a:bodyPr anchor="t" rtlCol="false" tIns="0" lIns="0" bIns="0" rIns="0">
            <a:spAutoFit/>
          </a:bodyPr>
          <a:lstStyle/>
          <a:p>
            <a:pPr algn="ctr">
              <a:lnSpc>
                <a:spcPts val="2982"/>
              </a:lnSpc>
              <a:spcBef>
                <a:spcPct val="0"/>
              </a:spcBef>
            </a:pPr>
            <a:r>
              <a:rPr lang="en-US" b="true" sz="2130">
                <a:solidFill>
                  <a:srgbClr val="FFFFFF"/>
                </a:solidFill>
                <a:latin typeface="Work Sans Bold"/>
                <a:ea typeface="Work Sans Bold"/>
                <a:cs typeface="Work Sans Bold"/>
                <a:sym typeface="Work Sans Bold"/>
              </a:rPr>
              <a:t>Model</a:t>
            </a:r>
            <a:r>
              <a:rPr lang="en-US" b="true" sz="2130">
                <a:solidFill>
                  <a:srgbClr val="FFFFFF"/>
                </a:solidFill>
                <a:latin typeface="Work Sans Bold"/>
                <a:ea typeface="Work Sans Bold"/>
                <a:cs typeface="Work Sans Bold"/>
                <a:sym typeface="Work Sans Bold"/>
              </a:rPr>
              <a:t> Integrations</a:t>
            </a:r>
          </a:p>
          <a:p>
            <a:pPr algn="ctr">
              <a:lnSpc>
                <a:spcPts val="2982"/>
              </a:lnSpc>
              <a:spcBef>
                <a:spcPct val="0"/>
              </a:spcBef>
            </a:pPr>
          </a:p>
        </p:txBody>
      </p:sp>
      <p:sp>
        <p:nvSpPr>
          <p:cNvPr name="TextBox 23" id="23"/>
          <p:cNvSpPr txBox="true"/>
          <p:nvPr/>
        </p:nvSpPr>
        <p:spPr>
          <a:xfrm rot="0">
            <a:off x="1345998" y="8080791"/>
            <a:ext cx="8369536" cy="1868346"/>
          </a:xfrm>
          <a:prstGeom prst="rect">
            <a:avLst/>
          </a:prstGeom>
        </p:spPr>
        <p:txBody>
          <a:bodyPr anchor="t" rtlCol="false" tIns="0" lIns="0" bIns="0" rIns="0">
            <a:spAutoFit/>
          </a:bodyPr>
          <a:lstStyle/>
          <a:p>
            <a:pPr algn="l" marL="455180" indent="-227590" lvl="1">
              <a:lnSpc>
                <a:spcPts val="2951"/>
              </a:lnSpc>
              <a:spcBef>
                <a:spcPct val="0"/>
              </a:spcBef>
              <a:buFont typeface="Arial"/>
              <a:buChar char="•"/>
            </a:pPr>
            <a:r>
              <a:rPr lang="en-US" sz="2108">
                <a:solidFill>
                  <a:srgbClr val="FFFFFF"/>
                </a:solidFill>
                <a:latin typeface="Work Sans"/>
                <a:ea typeface="Work Sans"/>
                <a:cs typeface="Work Sans"/>
                <a:sym typeface="Work Sans"/>
              </a:rPr>
              <a:t>Op</a:t>
            </a:r>
            <a:r>
              <a:rPr lang="en-US" sz="2108">
                <a:solidFill>
                  <a:srgbClr val="FFFFFF"/>
                </a:solidFill>
                <a:latin typeface="Work Sans"/>
                <a:ea typeface="Work Sans"/>
                <a:cs typeface="Work Sans"/>
                <a:sym typeface="Work Sans"/>
              </a:rPr>
              <a:t>enAI GPT-4 &amp; GPT-3.5</a:t>
            </a:r>
          </a:p>
          <a:p>
            <a:pPr algn="l" marL="455180" indent="-227590" lvl="1">
              <a:lnSpc>
                <a:spcPts val="2951"/>
              </a:lnSpc>
              <a:spcBef>
                <a:spcPct val="0"/>
              </a:spcBef>
              <a:buFont typeface="Arial"/>
              <a:buChar char="•"/>
            </a:pPr>
            <a:r>
              <a:rPr lang="en-US" sz="2108">
                <a:solidFill>
                  <a:srgbClr val="FFFFFF"/>
                </a:solidFill>
                <a:latin typeface="Work Sans"/>
                <a:ea typeface="Work Sans"/>
                <a:cs typeface="Work Sans"/>
                <a:sym typeface="Work Sans"/>
              </a:rPr>
              <a:t>Anthropic Claude</a:t>
            </a:r>
          </a:p>
          <a:p>
            <a:pPr algn="l" marL="455180" indent="-227590" lvl="1">
              <a:lnSpc>
                <a:spcPts val="2951"/>
              </a:lnSpc>
              <a:spcBef>
                <a:spcPct val="0"/>
              </a:spcBef>
              <a:buFont typeface="Arial"/>
              <a:buChar char="•"/>
            </a:pPr>
            <a:r>
              <a:rPr lang="en-US" sz="2108">
                <a:solidFill>
                  <a:srgbClr val="FFFFFF"/>
                </a:solidFill>
                <a:latin typeface="Work Sans"/>
                <a:ea typeface="Work Sans"/>
                <a:cs typeface="Work Sans"/>
                <a:sym typeface="Work Sans"/>
              </a:rPr>
              <a:t>Google Gemini</a:t>
            </a:r>
          </a:p>
          <a:p>
            <a:pPr algn="l" marL="455180" indent="-227590" lvl="1">
              <a:lnSpc>
                <a:spcPts val="2951"/>
              </a:lnSpc>
              <a:spcBef>
                <a:spcPct val="0"/>
              </a:spcBef>
              <a:buFont typeface="Arial"/>
              <a:buChar char="•"/>
            </a:pPr>
            <a:r>
              <a:rPr lang="en-US" sz="2108">
                <a:solidFill>
                  <a:srgbClr val="FFFFFF"/>
                </a:solidFill>
                <a:latin typeface="Work Sans"/>
                <a:ea typeface="Work Sans"/>
                <a:cs typeface="Work Sans"/>
                <a:sym typeface="Work Sans"/>
              </a:rPr>
              <a:t>Groq (Llama-3)</a:t>
            </a:r>
          </a:p>
          <a:p>
            <a:pPr algn="l">
              <a:lnSpc>
                <a:spcPts val="2951"/>
              </a:lnSpc>
              <a:spcBef>
                <a:spcPct val="0"/>
              </a:spcBef>
            </a:pPr>
          </a:p>
        </p:txBody>
      </p:sp>
      <p:grpSp>
        <p:nvGrpSpPr>
          <p:cNvPr name="Group 24" id="24"/>
          <p:cNvGrpSpPr/>
          <p:nvPr/>
        </p:nvGrpSpPr>
        <p:grpSpPr>
          <a:xfrm rot="0">
            <a:off x="16573507" y="3897608"/>
            <a:ext cx="1714493" cy="6551317"/>
            <a:chOff x="0" y="0"/>
            <a:chExt cx="451554" cy="1725450"/>
          </a:xfrm>
        </p:grpSpPr>
        <p:sp>
          <p:nvSpPr>
            <p:cNvPr name="Freeform 25" id="25"/>
            <p:cNvSpPr/>
            <p:nvPr/>
          </p:nvSpPr>
          <p:spPr>
            <a:xfrm flipH="false" flipV="false" rot="0">
              <a:off x="0" y="0"/>
              <a:ext cx="451554" cy="1725450"/>
            </a:xfrm>
            <a:custGeom>
              <a:avLst/>
              <a:gdLst/>
              <a:ahLst/>
              <a:cxnLst/>
              <a:rect r="r" b="b" t="t" l="l"/>
              <a:pathLst>
                <a:path h="1725450" w="451554">
                  <a:moveTo>
                    <a:pt x="0" y="0"/>
                  </a:moveTo>
                  <a:lnTo>
                    <a:pt x="451554" y="0"/>
                  </a:lnTo>
                  <a:lnTo>
                    <a:pt x="451554" y="1725450"/>
                  </a:lnTo>
                  <a:lnTo>
                    <a:pt x="0" y="1725450"/>
                  </a:lnTo>
                  <a:close/>
                </a:path>
              </a:pathLst>
            </a:custGeom>
            <a:gradFill rotWithShape="true">
              <a:gsLst>
                <a:gs pos="0">
                  <a:srgbClr val="000000">
                    <a:alpha val="100000"/>
                  </a:srgbClr>
                </a:gs>
                <a:gs pos="100000">
                  <a:srgbClr val="EE581E">
                    <a:alpha val="100000"/>
                  </a:srgbClr>
                </a:gs>
              </a:gsLst>
              <a:lin ang="5400000"/>
            </a:gradFill>
          </p:spPr>
        </p:sp>
        <p:sp>
          <p:nvSpPr>
            <p:cNvPr name="TextBox 26" id="26"/>
            <p:cNvSpPr txBox="true"/>
            <p:nvPr/>
          </p:nvSpPr>
          <p:spPr>
            <a:xfrm>
              <a:off x="0" y="47625"/>
              <a:ext cx="451554" cy="1677825"/>
            </a:xfrm>
            <a:prstGeom prst="rect">
              <a:avLst/>
            </a:prstGeom>
          </p:spPr>
          <p:txBody>
            <a:bodyPr anchor="ctr" rtlCol="false" tIns="50800" lIns="50800" bIns="50800" rIns="50800"/>
            <a:lstStyle/>
            <a:p>
              <a:pPr algn="ctr">
                <a:lnSpc>
                  <a:spcPts val="1200"/>
                </a:lnSpc>
              </a:pPr>
            </a:p>
          </p:txBody>
        </p:sp>
      </p:grpSp>
      <p:grpSp>
        <p:nvGrpSpPr>
          <p:cNvPr name="Group 27" id="27"/>
          <p:cNvGrpSpPr/>
          <p:nvPr/>
        </p:nvGrpSpPr>
        <p:grpSpPr>
          <a:xfrm rot="0">
            <a:off x="14859014" y="5143500"/>
            <a:ext cx="1714493" cy="6551317"/>
            <a:chOff x="0" y="0"/>
            <a:chExt cx="451554" cy="1725450"/>
          </a:xfrm>
        </p:grpSpPr>
        <p:sp>
          <p:nvSpPr>
            <p:cNvPr name="Freeform 28" id="28"/>
            <p:cNvSpPr/>
            <p:nvPr/>
          </p:nvSpPr>
          <p:spPr>
            <a:xfrm flipH="false" flipV="false" rot="0">
              <a:off x="0" y="0"/>
              <a:ext cx="451554" cy="1725450"/>
            </a:xfrm>
            <a:custGeom>
              <a:avLst/>
              <a:gdLst/>
              <a:ahLst/>
              <a:cxnLst/>
              <a:rect r="r" b="b" t="t" l="l"/>
              <a:pathLst>
                <a:path h="1725450" w="451554">
                  <a:moveTo>
                    <a:pt x="0" y="0"/>
                  </a:moveTo>
                  <a:lnTo>
                    <a:pt x="451554" y="0"/>
                  </a:lnTo>
                  <a:lnTo>
                    <a:pt x="451554" y="1725450"/>
                  </a:lnTo>
                  <a:lnTo>
                    <a:pt x="0" y="1725450"/>
                  </a:lnTo>
                  <a:close/>
                </a:path>
              </a:pathLst>
            </a:custGeom>
            <a:gradFill rotWithShape="true">
              <a:gsLst>
                <a:gs pos="0">
                  <a:srgbClr val="000000">
                    <a:alpha val="100000"/>
                  </a:srgbClr>
                </a:gs>
                <a:gs pos="100000">
                  <a:srgbClr val="EE581E">
                    <a:alpha val="100000"/>
                  </a:srgbClr>
                </a:gs>
              </a:gsLst>
              <a:lin ang="5400000"/>
            </a:gradFill>
          </p:spPr>
        </p:sp>
        <p:sp>
          <p:nvSpPr>
            <p:cNvPr name="TextBox 29" id="29"/>
            <p:cNvSpPr txBox="true"/>
            <p:nvPr/>
          </p:nvSpPr>
          <p:spPr>
            <a:xfrm>
              <a:off x="0" y="47625"/>
              <a:ext cx="451554" cy="1677825"/>
            </a:xfrm>
            <a:prstGeom prst="rect">
              <a:avLst/>
            </a:prstGeom>
          </p:spPr>
          <p:txBody>
            <a:bodyPr anchor="ctr" rtlCol="false" tIns="50800" lIns="50800" bIns="50800" rIns="50800"/>
            <a:lstStyle/>
            <a:p>
              <a:pPr algn="ctr">
                <a:lnSpc>
                  <a:spcPts val="1200"/>
                </a:lnSpc>
              </a:pPr>
            </a:p>
          </p:txBody>
        </p:sp>
      </p:grpSp>
      <p:grpSp>
        <p:nvGrpSpPr>
          <p:cNvPr name="Group 30" id="30"/>
          <p:cNvGrpSpPr/>
          <p:nvPr/>
        </p:nvGrpSpPr>
        <p:grpSpPr>
          <a:xfrm rot="0">
            <a:off x="13144521" y="5982642"/>
            <a:ext cx="1714493" cy="6551317"/>
            <a:chOff x="0" y="0"/>
            <a:chExt cx="451554" cy="1725450"/>
          </a:xfrm>
        </p:grpSpPr>
        <p:sp>
          <p:nvSpPr>
            <p:cNvPr name="Freeform 31" id="31"/>
            <p:cNvSpPr/>
            <p:nvPr/>
          </p:nvSpPr>
          <p:spPr>
            <a:xfrm flipH="false" flipV="false" rot="0">
              <a:off x="0" y="0"/>
              <a:ext cx="451554" cy="1725450"/>
            </a:xfrm>
            <a:custGeom>
              <a:avLst/>
              <a:gdLst/>
              <a:ahLst/>
              <a:cxnLst/>
              <a:rect r="r" b="b" t="t" l="l"/>
              <a:pathLst>
                <a:path h="1725450" w="451554">
                  <a:moveTo>
                    <a:pt x="0" y="0"/>
                  </a:moveTo>
                  <a:lnTo>
                    <a:pt x="451554" y="0"/>
                  </a:lnTo>
                  <a:lnTo>
                    <a:pt x="451554" y="1725450"/>
                  </a:lnTo>
                  <a:lnTo>
                    <a:pt x="0" y="1725450"/>
                  </a:lnTo>
                  <a:close/>
                </a:path>
              </a:pathLst>
            </a:custGeom>
            <a:gradFill rotWithShape="true">
              <a:gsLst>
                <a:gs pos="0">
                  <a:srgbClr val="000000">
                    <a:alpha val="100000"/>
                  </a:srgbClr>
                </a:gs>
                <a:gs pos="100000">
                  <a:srgbClr val="EE581E">
                    <a:alpha val="100000"/>
                  </a:srgbClr>
                </a:gs>
              </a:gsLst>
              <a:lin ang="5400000"/>
            </a:gradFill>
          </p:spPr>
        </p:sp>
        <p:sp>
          <p:nvSpPr>
            <p:cNvPr name="TextBox 32" id="32"/>
            <p:cNvSpPr txBox="true"/>
            <p:nvPr/>
          </p:nvSpPr>
          <p:spPr>
            <a:xfrm>
              <a:off x="0" y="47625"/>
              <a:ext cx="451554" cy="1677825"/>
            </a:xfrm>
            <a:prstGeom prst="rect">
              <a:avLst/>
            </a:prstGeom>
          </p:spPr>
          <p:txBody>
            <a:bodyPr anchor="ctr" rtlCol="false" tIns="50800" lIns="50800" bIns="50800" rIns="50800"/>
            <a:lstStyle/>
            <a:p>
              <a:pPr algn="ctr">
                <a:lnSpc>
                  <a:spcPts val="1200"/>
                </a:lnSpc>
              </a:pPr>
            </a:p>
          </p:txBody>
        </p:sp>
      </p:grpSp>
      <p:grpSp>
        <p:nvGrpSpPr>
          <p:cNvPr name="Group 33" id="33"/>
          <p:cNvGrpSpPr/>
          <p:nvPr/>
        </p:nvGrpSpPr>
        <p:grpSpPr>
          <a:xfrm rot="0">
            <a:off x="11430027" y="7011342"/>
            <a:ext cx="1714493" cy="6551317"/>
            <a:chOff x="0" y="0"/>
            <a:chExt cx="451554" cy="1725450"/>
          </a:xfrm>
        </p:grpSpPr>
        <p:sp>
          <p:nvSpPr>
            <p:cNvPr name="Freeform 34" id="34"/>
            <p:cNvSpPr/>
            <p:nvPr/>
          </p:nvSpPr>
          <p:spPr>
            <a:xfrm flipH="false" flipV="false" rot="0">
              <a:off x="0" y="0"/>
              <a:ext cx="451554" cy="1725450"/>
            </a:xfrm>
            <a:custGeom>
              <a:avLst/>
              <a:gdLst/>
              <a:ahLst/>
              <a:cxnLst/>
              <a:rect r="r" b="b" t="t" l="l"/>
              <a:pathLst>
                <a:path h="1725450" w="451554">
                  <a:moveTo>
                    <a:pt x="0" y="0"/>
                  </a:moveTo>
                  <a:lnTo>
                    <a:pt x="451554" y="0"/>
                  </a:lnTo>
                  <a:lnTo>
                    <a:pt x="451554" y="1725450"/>
                  </a:lnTo>
                  <a:lnTo>
                    <a:pt x="0" y="1725450"/>
                  </a:lnTo>
                  <a:close/>
                </a:path>
              </a:pathLst>
            </a:custGeom>
            <a:gradFill rotWithShape="true">
              <a:gsLst>
                <a:gs pos="0">
                  <a:srgbClr val="000000">
                    <a:alpha val="100000"/>
                  </a:srgbClr>
                </a:gs>
                <a:gs pos="100000">
                  <a:srgbClr val="EE581E">
                    <a:alpha val="100000"/>
                  </a:srgbClr>
                </a:gs>
              </a:gsLst>
              <a:lin ang="5400000"/>
            </a:gradFill>
          </p:spPr>
        </p:sp>
        <p:sp>
          <p:nvSpPr>
            <p:cNvPr name="TextBox 35" id="35"/>
            <p:cNvSpPr txBox="true"/>
            <p:nvPr/>
          </p:nvSpPr>
          <p:spPr>
            <a:xfrm>
              <a:off x="0" y="47625"/>
              <a:ext cx="451554" cy="1677825"/>
            </a:xfrm>
            <a:prstGeom prst="rect">
              <a:avLst/>
            </a:prstGeom>
          </p:spPr>
          <p:txBody>
            <a:bodyPr anchor="ctr" rtlCol="false" tIns="50800" lIns="50800" bIns="50800" rIns="50800"/>
            <a:lstStyle/>
            <a:p>
              <a:pPr algn="ctr">
                <a:lnSpc>
                  <a:spcPts val="1200"/>
                </a:lnSpc>
              </a:pPr>
            </a:p>
          </p:txBody>
        </p:sp>
      </p:grpSp>
      <p:grpSp>
        <p:nvGrpSpPr>
          <p:cNvPr name="Group 36" id="36"/>
          <p:cNvGrpSpPr/>
          <p:nvPr/>
        </p:nvGrpSpPr>
        <p:grpSpPr>
          <a:xfrm rot="0">
            <a:off x="9715534" y="7995066"/>
            <a:ext cx="1714493" cy="6551317"/>
            <a:chOff x="0" y="0"/>
            <a:chExt cx="451554" cy="1725450"/>
          </a:xfrm>
        </p:grpSpPr>
        <p:sp>
          <p:nvSpPr>
            <p:cNvPr name="Freeform 37" id="37"/>
            <p:cNvSpPr/>
            <p:nvPr/>
          </p:nvSpPr>
          <p:spPr>
            <a:xfrm flipH="false" flipV="false" rot="0">
              <a:off x="0" y="0"/>
              <a:ext cx="451554" cy="1725450"/>
            </a:xfrm>
            <a:custGeom>
              <a:avLst/>
              <a:gdLst/>
              <a:ahLst/>
              <a:cxnLst/>
              <a:rect r="r" b="b" t="t" l="l"/>
              <a:pathLst>
                <a:path h="1725450" w="451554">
                  <a:moveTo>
                    <a:pt x="0" y="0"/>
                  </a:moveTo>
                  <a:lnTo>
                    <a:pt x="451554" y="0"/>
                  </a:lnTo>
                  <a:lnTo>
                    <a:pt x="451554" y="1725450"/>
                  </a:lnTo>
                  <a:lnTo>
                    <a:pt x="0" y="1725450"/>
                  </a:lnTo>
                  <a:close/>
                </a:path>
              </a:pathLst>
            </a:custGeom>
            <a:gradFill rotWithShape="true">
              <a:gsLst>
                <a:gs pos="0">
                  <a:srgbClr val="000000">
                    <a:alpha val="100000"/>
                  </a:srgbClr>
                </a:gs>
                <a:gs pos="100000">
                  <a:srgbClr val="EE581E">
                    <a:alpha val="100000"/>
                  </a:srgbClr>
                </a:gs>
              </a:gsLst>
              <a:lin ang="5400000"/>
            </a:gradFill>
          </p:spPr>
        </p:sp>
        <p:sp>
          <p:nvSpPr>
            <p:cNvPr name="TextBox 38" id="38"/>
            <p:cNvSpPr txBox="true"/>
            <p:nvPr/>
          </p:nvSpPr>
          <p:spPr>
            <a:xfrm>
              <a:off x="0" y="47625"/>
              <a:ext cx="451554" cy="1677825"/>
            </a:xfrm>
            <a:prstGeom prst="rect">
              <a:avLst/>
            </a:prstGeom>
          </p:spPr>
          <p:txBody>
            <a:bodyPr anchor="ctr" rtlCol="false" tIns="50800" lIns="50800" bIns="50800" rIns="50800"/>
            <a:lstStyle/>
            <a:p>
              <a:pPr algn="ctr">
                <a:lnSpc>
                  <a:spcPts val="1200"/>
                </a:lnSpc>
              </a:pPr>
            </a:p>
          </p:txBody>
        </p:sp>
      </p:grpSp>
    </p:spTree>
  </p:cSld>
  <p:clrMapOvr>
    <a:masterClrMapping/>
  </p:clrMapOvr>
  <p:transition spd="fast">
    <p:cover dir="d"/>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1028700" y="2523830"/>
            <a:ext cx="7564290" cy="3447569"/>
          </a:xfrm>
          <a:prstGeom prst="rect">
            <a:avLst/>
          </a:prstGeom>
        </p:spPr>
        <p:txBody>
          <a:bodyPr anchor="t" rtlCol="false" tIns="0" lIns="0" bIns="0" rIns="0">
            <a:spAutoFit/>
          </a:bodyPr>
          <a:lstStyle/>
          <a:p>
            <a:pPr algn="l">
              <a:lnSpc>
                <a:spcPts val="8735"/>
              </a:lnSpc>
            </a:pPr>
            <a:r>
              <a:rPr lang="en-US" sz="6239">
                <a:solidFill>
                  <a:srgbClr val="FFFFFF"/>
                </a:solidFill>
                <a:latin typeface="Agrandir"/>
                <a:ea typeface="Agrandir"/>
                <a:cs typeface="Agrandir"/>
                <a:sym typeface="Agrandir"/>
              </a:rPr>
              <a:t>Character &amp; Word Level Attacks</a:t>
            </a:r>
          </a:p>
          <a:p>
            <a:pPr algn="l">
              <a:lnSpc>
                <a:spcPts val="8735"/>
              </a:lnSpc>
              <a:spcBef>
                <a:spcPct val="0"/>
              </a:spcBef>
            </a:pPr>
          </a:p>
        </p:txBody>
      </p:sp>
      <p:sp>
        <p:nvSpPr>
          <p:cNvPr name="TextBox 4" id="4"/>
          <p:cNvSpPr txBox="true"/>
          <p:nvPr/>
        </p:nvSpPr>
        <p:spPr>
          <a:xfrm rot="0">
            <a:off x="1028700" y="5143503"/>
            <a:ext cx="8849994" cy="2749723"/>
          </a:xfrm>
          <a:prstGeom prst="rect">
            <a:avLst/>
          </a:prstGeom>
        </p:spPr>
        <p:txBody>
          <a:bodyPr anchor="t" rtlCol="false" tIns="0" lIns="0" bIns="0" rIns="0">
            <a:spAutoFit/>
          </a:bodyPr>
          <a:lstStyle/>
          <a:p>
            <a:pPr algn="just">
              <a:lnSpc>
                <a:spcPts val="4337"/>
              </a:lnSpc>
            </a:pPr>
            <a:r>
              <a:rPr lang="en-US" sz="3098">
                <a:solidFill>
                  <a:srgbClr val="FFFFFF"/>
                </a:solidFill>
                <a:latin typeface="Agrandir"/>
                <a:ea typeface="Agrandir"/>
                <a:cs typeface="Agrandir"/>
                <a:sym typeface="Agrandir"/>
              </a:rPr>
              <a:t>These attacks exploit the tokenization process and character-level sensitivity of LLMs by introducing subtle perturbations that are often invisible to human readers.</a:t>
            </a:r>
          </a:p>
          <a:p>
            <a:pPr algn="just">
              <a:lnSpc>
                <a:spcPts val="4337"/>
              </a:lnSpc>
              <a:spcBef>
                <a:spcPct val="0"/>
              </a:spcBef>
            </a:pPr>
          </a:p>
        </p:txBody>
      </p:sp>
      <p:sp>
        <p:nvSpPr>
          <p:cNvPr name="Freeform 5" id="5"/>
          <p:cNvSpPr/>
          <p:nvPr/>
        </p:nvSpPr>
        <p:spPr>
          <a:xfrm flipH="true" flipV="false" rot="0">
            <a:off x="11346202" y="2769143"/>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2016611" y="2723855"/>
            <a:ext cx="4614148" cy="829945"/>
          </a:xfrm>
          <a:prstGeom prst="rect">
            <a:avLst/>
          </a:prstGeom>
        </p:spPr>
        <p:txBody>
          <a:bodyPr anchor="t" rtlCol="false" tIns="0" lIns="0" bIns="0" rIns="0">
            <a:spAutoFit/>
          </a:bodyPr>
          <a:lstStyle/>
          <a:p>
            <a:pPr algn="l">
              <a:lnSpc>
                <a:spcPts val="3079"/>
              </a:lnSpc>
            </a:pPr>
            <a:r>
              <a:rPr lang="en-US" sz="2199">
                <a:solidFill>
                  <a:srgbClr val="FFFFFF"/>
                </a:solidFill>
                <a:latin typeface="Agrandir"/>
                <a:ea typeface="Agrandir"/>
                <a:cs typeface="Agrandir"/>
                <a:sym typeface="Agrandir"/>
              </a:rPr>
              <a:t>TextBugger</a:t>
            </a:r>
          </a:p>
          <a:p>
            <a:pPr algn="l">
              <a:lnSpc>
                <a:spcPts val="3079"/>
              </a:lnSpc>
              <a:spcBef>
                <a:spcPct val="0"/>
              </a:spcBef>
            </a:pPr>
          </a:p>
        </p:txBody>
      </p:sp>
      <p:sp>
        <p:nvSpPr>
          <p:cNvPr name="TextBox 7" id="7"/>
          <p:cNvSpPr txBox="true"/>
          <p:nvPr/>
        </p:nvSpPr>
        <p:spPr>
          <a:xfrm rot="0">
            <a:off x="12016611" y="3233685"/>
            <a:ext cx="3921486" cy="2070386"/>
          </a:xfrm>
          <a:prstGeom prst="rect">
            <a:avLst/>
          </a:prstGeom>
        </p:spPr>
        <p:txBody>
          <a:bodyPr anchor="t" rtlCol="false" tIns="0" lIns="0" bIns="0" rIns="0">
            <a:spAutoFit/>
          </a:bodyPr>
          <a:lstStyle/>
          <a:p>
            <a:pPr algn="just">
              <a:lnSpc>
                <a:spcPts val="2784"/>
              </a:lnSpc>
            </a:pPr>
            <a:r>
              <a:rPr lang="en-US" sz="1988">
                <a:solidFill>
                  <a:srgbClr val="FFFFFF"/>
                </a:solidFill>
                <a:latin typeface="Agrandir"/>
                <a:ea typeface="Agrandir"/>
                <a:cs typeface="Agrandir"/>
                <a:sym typeface="Agrandir"/>
              </a:rPr>
              <a:t>Injects typos via character swaps, insertions, deletions, and visual substitutions (e.g., 'a' becomes '@'). Targets model tokenizer vulnerabilities.</a:t>
            </a:r>
          </a:p>
          <a:p>
            <a:pPr algn="just">
              <a:lnSpc>
                <a:spcPts val="2084"/>
              </a:lnSpc>
              <a:spcBef>
                <a:spcPct val="0"/>
              </a:spcBef>
            </a:pPr>
          </a:p>
        </p:txBody>
      </p:sp>
      <p:sp>
        <p:nvSpPr>
          <p:cNvPr name="Freeform 8" id="8"/>
          <p:cNvSpPr/>
          <p:nvPr/>
        </p:nvSpPr>
        <p:spPr>
          <a:xfrm flipH="true" flipV="false" rot="0">
            <a:off x="11386955" y="5155430"/>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2016611" y="5141454"/>
            <a:ext cx="4156948" cy="829945"/>
          </a:xfrm>
          <a:prstGeom prst="rect">
            <a:avLst/>
          </a:prstGeom>
        </p:spPr>
        <p:txBody>
          <a:bodyPr anchor="t" rtlCol="false" tIns="0" lIns="0" bIns="0" rIns="0">
            <a:spAutoFit/>
          </a:bodyPr>
          <a:lstStyle/>
          <a:p>
            <a:pPr algn="l">
              <a:lnSpc>
                <a:spcPts val="3079"/>
              </a:lnSpc>
            </a:pPr>
            <a:r>
              <a:rPr lang="en-US" sz="2199">
                <a:solidFill>
                  <a:srgbClr val="FFFFFF"/>
                </a:solidFill>
                <a:latin typeface="Agrandir"/>
                <a:ea typeface="Agrandir"/>
                <a:cs typeface="Agrandir"/>
                <a:sym typeface="Agrandir"/>
              </a:rPr>
              <a:t>DeepWordBug</a:t>
            </a:r>
          </a:p>
          <a:p>
            <a:pPr algn="l">
              <a:lnSpc>
                <a:spcPts val="3079"/>
              </a:lnSpc>
              <a:spcBef>
                <a:spcPct val="0"/>
              </a:spcBef>
            </a:pPr>
          </a:p>
        </p:txBody>
      </p:sp>
      <p:sp>
        <p:nvSpPr>
          <p:cNvPr name="TextBox 10" id="10"/>
          <p:cNvSpPr txBox="true"/>
          <p:nvPr/>
        </p:nvSpPr>
        <p:spPr>
          <a:xfrm rot="0">
            <a:off x="12016611" y="5627874"/>
            <a:ext cx="4809424" cy="1616382"/>
          </a:xfrm>
          <a:prstGeom prst="rect">
            <a:avLst/>
          </a:prstGeom>
        </p:spPr>
        <p:txBody>
          <a:bodyPr anchor="t" rtlCol="false" tIns="0" lIns="0" bIns="0" rIns="0">
            <a:spAutoFit/>
          </a:bodyPr>
          <a:lstStyle/>
          <a:p>
            <a:pPr algn="just">
              <a:lnSpc>
                <a:spcPts val="2556"/>
              </a:lnSpc>
            </a:pPr>
            <a:r>
              <a:rPr lang="en-US" sz="1825">
                <a:solidFill>
                  <a:srgbClr val="FFFFFF"/>
                </a:solidFill>
                <a:latin typeface="Agrandir"/>
                <a:ea typeface="Agrandir"/>
                <a:cs typeface="Agrandir"/>
                <a:sym typeface="Agrandir"/>
              </a:rPr>
              <a:t>Identifies and modifies high-importance words in the prompt to maximize confusion. Analyzes word significance before perturbation.</a:t>
            </a:r>
          </a:p>
          <a:p>
            <a:pPr algn="just">
              <a:lnSpc>
                <a:spcPts val="2556"/>
              </a:lnSpc>
              <a:spcBef>
                <a:spcPct val="0"/>
              </a:spcBef>
            </a:pPr>
          </a:p>
        </p:txBody>
      </p:sp>
      <p:sp>
        <p:nvSpPr>
          <p:cNvPr name="Freeform 11" id="11"/>
          <p:cNvSpPr/>
          <p:nvPr/>
        </p:nvSpPr>
        <p:spPr>
          <a:xfrm flipH="true" flipV="false" rot="0">
            <a:off x="11346202" y="7156812"/>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2016611" y="7139481"/>
            <a:ext cx="4486543" cy="439420"/>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Agrandir"/>
                <a:ea typeface="Agrandir"/>
                <a:cs typeface="Agrandir"/>
                <a:sym typeface="Agrandir"/>
              </a:rPr>
              <a:t>Text Fooler</a:t>
            </a:r>
          </a:p>
        </p:txBody>
      </p:sp>
      <p:sp>
        <p:nvSpPr>
          <p:cNvPr name="TextBox 13" id="13"/>
          <p:cNvSpPr txBox="true"/>
          <p:nvPr/>
        </p:nvSpPr>
        <p:spPr>
          <a:xfrm rot="0">
            <a:off x="12016611" y="7655902"/>
            <a:ext cx="4976884" cy="1343290"/>
          </a:xfrm>
          <a:prstGeom prst="rect">
            <a:avLst/>
          </a:prstGeom>
        </p:spPr>
        <p:txBody>
          <a:bodyPr anchor="t" rtlCol="false" tIns="0" lIns="0" bIns="0" rIns="0">
            <a:spAutoFit/>
          </a:bodyPr>
          <a:lstStyle/>
          <a:p>
            <a:pPr algn="just">
              <a:lnSpc>
                <a:spcPts val="2645"/>
              </a:lnSpc>
            </a:pPr>
            <a:r>
              <a:rPr lang="en-US" sz="1889">
                <a:solidFill>
                  <a:srgbClr val="FFFFFF"/>
                </a:solidFill>
                <a:latin typeface="Agrandir"/>
                <a:ea typeface="Agrandir"/>
                <a:cs typeface="Agrandir"/>
                <a:sym typeface="Agrandir"/>
              </a:rPr>
              <a:t>Replaces keywords with semantically similar synonyms to test sensitivity to word choice while maintaining meaning</a:t>
            </a:r>
          </a:p>
          <a:p>
            <a:pPr algn="just">
              <a:lnSpc>
                <a:spcPts val="2645"/>
              </a:lnSpc>
              <a:spcBef>
                <a:spcPct val="0"/>
              </a:spcBef>
            </a:pPr>
          </a:p>
        </p:txBody>
      </p:sp>
      <p:grpSp>
        <p:nvGrpSpPr>
          <p:cNvPr name="Group 14" id="14"/>
          <p:cNvGrpSpPr/>
          <p:nvPr/>
        </p:nvGrpSpPr>
        <p:grpSpPr>
          <a:xfrm rot="5400000">
            <a:off x="968192" y="5331128"/>
            <a:ext cx="1714493" cy="8197250"/>
            <a:chOff x="0" y="0"/>
            <a:chExt cx="451554" cy="2158947"/>
          </a:xfrm>
        </p:grpSpPr>
        <p:sp>
          <p:nvSpPr>
            <p:cNvPr name="Freeform 15" id="15"/>
            <p:cNvSpPr/>
            <p:nvPr/>
          </p:nvSpPr>
          <p:spPr>
            <a:xfrm flipH="false" flipV="false" rot="0">
              <a:off x="0" y="0"/>
              <a:ext cx="451554" cy="2158947"/>
            </a:xfrm>
            <a:custGeom>
              <a:avLst/>
              <a:gdLst/>
              <a:ahLst/>
              <a:cxnLst/>
              <a:rect r="r" b="b" t="t" l="l"/>
              <a:pathLst>
                <a:path h="2158947" w="451554">
                  <a:moveTo>
                    <a:pt x="0" y="0"/>
                  </a:moveTo>
                  <a:lnTo>
                    <a:pt x="451554" y="0"/>
                  </a:lnTo>
                  <a:lnTo>
                    <a:pt x="451554" y="2158947"/>
                  </a:lnTo>
                  <a:lnTo>
                    <a:pt x="0" y="2158947"/>
                  </a:lnTo>
                  <a:close/>
                </a:path>
              </a:pathLst>
            </a:custGeom>
            <a:gradFill rotWithShape="true">
              <a:gsLst>
                <a:gs pos="0">
                  <a:srgbClr val="000000">
                    <a:alpha val="100000"/>
                  </a:srgbClr>
                </a:gs>
                <a:gs pos="100000">
                  <a:srgbClr val="EE581E">
                    <a:alpha val="100000"/>
                  </a:srgbClr>
                </a:gs>
              </a:gsLst>
              <a:lin ang="5400000"/>
            </a:gradFill>
          </p:spPr>
        </p:sp>
        <p:sp>
          <p:nvSpPr>
            <p:cNvPr name="TextBox 16" id="16"/>
            <p:cNvSpPr txBox="true"/>
            <p:nvPr/>
          </p:nvSpPr>
          <p:spPr>
            <a:xfrm>
              <a:off x="0" y="47625"/>
              <a:ext cx="451554" cy="2111322"/>
            </a:xfrm>
            <a:prstGeom prst="rect">
              <a:avLst/>
            </a:prstGeom>
          </p:spPr>
          <p:txBody>
            <a:bodyPr anchor="ctr" rtlCol="false" tIns="50800" lIns="50800" bIns="50800" rIns="50800"/>
            <a:lstStyle/>
            <a:p>
              <a:pPr algn="ctr">
                <a:lnSpc>
                  <a:spcPts val="1200"/>
                </a:lnSpc>
              </a:pPr>
            </a:p>
          </p:txBody>
        </p:sp>
      </p:grpSp>
      <p:grpSp>
        <p:nvGrpSpPr>
          <p:cNvPr name="Group 17" id="17"/>
          <p:cNvGrpSpPr/>
          <p:nvPr/>
        </p:nvGrpSpPr>
        <p:grpSpPr>
          <a:xfrm rot="-5400000">
            <a:off x="14838219" y="-3241379"/>
            <a:ext cx="1714493" cy="8197250"/>
            <a:chOff x="0" y="0"/>
            <a:chExt cx="451554" cy="2158947"/>
          </a:xfrm>
        </p:grpSpPr>
        <p:sp>
          <p:nvSpPr>
            <p:cNvPr name="Freeform 18" id="18"/>
            <p:cNvSpPr/>
            <p:nvPr/>
          </p:nvSpPr>
          <p:spPr>
            <a:xfrm flipH="false" flipV="false" rot="0">
              <a:off x="0" y="0"/>
              <a:ext cx="451554" cy="2158947"/>
            </a:xfrm>
            <a:custGeom>
              <a:avLst/>
              <a:gdLst/>
              <a:ahLst/>
              <a:cxnLst/>
              <a:rect r="r" b="b" t="t" l="l"/>
              <a:pathLst>
                <a:path h="2158947" w="451554">
                  <a:moveTo>
                    <a:pt x="0" y="0"/>
                  </a:moveTo>
                  <a:lnTo>
                    <a:pt x="451554" y="0"/>
                  </a:lnTo>
                  <a:lnTo>
                    <a:pt x="451554" y="2158947"/>
                  </a:lnTo>
                  <a:lnTo>
                    <a:pt x="0" y="2158947"/>
                  </a:lnTo>
                  <a:close/>
                </a:path>
              </a:pathLst>
            </a:custGeom>
            <a:gradFill rotWithShape="true">
              <a:gsLst>
                <a:gs pos="0">
                  <a:srgbClr val="000000">
                    <a:alpha val="100000"/>
                  </a:srgbClr>
                </a:gs>
                <a:gs pos="100000">
                  <a:srgbClr val="EE581E">
                    <a:alpha val="100000"/>
                  </a:srgbClr>
                </a:gs>
              </a:gsLst>
              <a:lin ang="5400000"/>
            </a:gradFill>
          </p:spPr>
        </p:sp>
        <p:sp>
          <p:nvSpPr>
            <p:cNvPr name="TextBox 19" id="19"/>
            <p:cNvSpPr txBox="true"/>
            <p:nvPr/>
          </p:nvSpPr>
          <p:spPr>
            <a:xfrm>
              <a:off x="0" y="47625"/>
              <a:ext cx="451554" cy="2111322"/>
            </a:xfrm>
            <a:prstGeom prst="rect">
              <a:avLst/>
            </a:prstGeom>
          </p:spPr>
          <p:txBody>
            <a:bodyPr anchor="ctr" rtlCol="false" tIns="50800" lIns="50800" bIns="50800" rIns="50800"/>
            <a:lstStyle/>
            <a:p>
              <a:pPr algn="ctr">
                <a:lnSpc>
                  <a:spcPts val="1200"/>
                </a:lnSpc>
              </a:pPr>
            </a:p>
          </p:txBody>
        </p:sp>
      </p:grpSp>
      <p:grpSp>
        <p:nvGrpSpPr>
          <p:cNvPr name="Group 20" id="20"/>
          <p:cNvGrpSpPr/>
          <p:nvPr/>
        </p:nvGrpSpPr>
        <p:grpSpPr>
          <a:xfrm rot="5400000">
            <a:off x="2306136" y="-3241379"/>
            <a:ext cx="1714493" cy="8197250"/>
            <a:chOff x="0" y="0"/>
            <a:chExt cx="451554" cy="2158947"/>
          </a:xfrm>
        </p:grpSpPr>
        <p:sp>
          <p:nvSpPr>
            <p:cNvPr name="Freeform 21" id="21"/>
            <p:cNvSpPr/>
            <p:nvPr/>
          </p:nvSpPr>
          <p:spPr>
            <a:xfrm flipH="false" flipV="false" rot="0">
              <a:off x="0" y="0"/>
              <a:ext cx="451554" cy="2158947"/>
            </a:xfrm>
            <a:custGeom>
              <a:avLst/>
              <a:gdLst/>
              <a:ahLst/>
              <a:cxnLst/>
              <a:rect r="r" b="b" t="t" l="l"/>
              <a:pathLst>
                <a:path h="2158947" w="451554">
                  <a:moveTo>
                    <a:pt x="0" y="0"/>
                  </a:moveTo>
                  <a:lnTo>
                    <a:pt x="451554" y="0"/>
                  </a:lnTo>
                  <a:lnTo>
                    <a:pt x="451554" y="2158947"/>
                  </a:lnTo>
                  <a:lnTo>
                    <a:pt x="0" y="2158947"/>
                  </a:lnTo>
                  <a:close/>
                </a:path>
              </a:pathLst>
            </a:custGeom>
            <a:gradFill rotWithShape="true">
              <a:gsLst>
                <a:gs pos="0">
                  <a:srgbClr val="000000">
                    <a:alpha val="100000"/>
                  </a:srgbClr>
                </a:gs>
                <a:gs pos="100000">
                  <a:srgbClr val="EE581E">
                    <a:alpha val="100000"/>
                  </a:srgbClr>
                </a:gs>
              </a:gsLst>
              <a:lin ang="5400000"/>
            </a:gradFill>
          </p:spPr>
        </p:sp>
        <p:sp>
          <p:nvSpPr>
            <p:cNvPr name="TextBox 22" id="22"/>
            <p:cNvSpPr txBox="true"/>
            <p:nvPr/>
          </p:nvSpPr>
          <p:spPr>
            <a:xfrm>
              <a:off x="0" y="47625"/>
              <a:ext cx="451554" cy="2111322"/>
            </a:xfrm>
            <a:prstGeom prst="rect">
              <a:avLst/>
            </a:prstGeom>
          </p:spPr>
          <p:txBody>
            <a:bodyPr anchor="ctr" rtlCol="false" tIns="50800" lIns="50800" bIns="50800" rIns="50800"/>
            <a:lstStyle/>
            <a:p>
              <a:pPr algn="ctr">
                <a:lnSpc>
                  <a:spcPts val="1200"/>
                </a:lnSpc>
              </a:pP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890461" y="966554"/>
            <a:ext cx="9752433" cy="2973368"/>
          </a:xfrm>
          <a:prstGeom prst="rect">
            <a:avLst/>
          </a:prstGeom>
        </p:spPr>
        <p:txBody>
          <a:bodyPr anchor="t" rtlCol="false" tIns="0" lIns="0" bIns="0" rIns="0">
            <a:spAutoFit/>
          </a:bodyPr>
          <a:lstStyle/>
          <a:p>
            <a:pPr algn="l">
              <a:lnSpc>
                <a:spcPts val="7561"/>
              </a:lnSpc>
            </a:pPr>
            <a:r>
              <a:rPr lang="en-US" sz="7561">
                <a:solidFill>
                  <a:srgbClr val="FFFFFF"/>
                </a:solidFill>
                <a:latin typeface="Poppins"/>
                <a:ea typeface="Poppins"/>
                <a:cs typeface="Poppins"/>
                <a:sym typeface="Poppins"/>
              </a:rPr>
              <a:t>S</a:t>
            </a:r>
            <a:r>
              <a:rPr lang="en-US" sz="7561">
                <a:solidFill>
                  <a:srgbClr val="FFFFFF"/>
                </a:solidFill>
                <a:latin typeface="Poppins"/>
                <a:ea typeface="Poppins"/>
                <a:cs typeface="Poppins"/>
                <a:sym typeface="Poppins"/>
              </a:rPr>
              <a:t>entence &amp; Semantic Attacks</a:t>
            </a:r>
          </a:p>
          <a:p>
            <a:pPr algn="l">
              <a:lnSpc>
                <a:spcPts val="7561"/>
              </a:lnSpc>
            </a:pPr>
          </a:p>
        </p:txBody>
      </p:sp>
      <p:grpSp>
        <p:nvGrpSpPr>
          <p:cNvPr name="Group 3" id="3"/>
          <p:cNvGrpSpPr/>
          <p:nvPr/>
        </p:nvGrpSpPr>
        <p:grpSpPr>
          <a:xfrm rot="5400000">
            <a:off x="255671" y="4628255"/>
            <a:ext cx="5368195" cy="3593537"/>
            <a:chOff x="0" y="0"/>
            <a:chExt cx="2630366" cy="1760800"/>
          </a:xfrm>
        </p:grpSpPr>
        <p:sp>
          <p:nvSpPr>
            <p:cNvPr name="Freeform 4" id="4"/>
            <p:cNvSpPr/>
            <p:nvPr/>
          </p:nvSpPr>
          <p:spPr>
            <a:xfrm flipH="false" flipV="false" rot="0">
              <a:off x="0" y="0"/>
              <a:ext cx="2630366" cy="1760800"/>
            </a:xfrm>
            <a:custGeom>
              <a:avLst/>
              <a:gdLst/>
              <a:ahLst/>
              <a:cxnLst/>
              <a:rect r="r" b="b" t="t" l="l"/>
              <a:pathLst>
                <a:path h="1760800" w="2630366">
                  <a:moveTo>
                    <a:pt x="0" y="0"/>
                  </a:moveTo>
                  <a:lnTo>
                    <a:pt x="2630366" y="0"/>
                  </a:lnTo>
                  <a:lnTo>
                    <a:pt x="2630366" y="1760800"/>
                  </a:lnTo>
                  <a:lnTo>
                    <a:pt x="0" y="1760800"/>
                  </a:lnTo>
                  <a:close/>
                </a:path>
              </a:pathLst>
            </a:custGeom>
            <a:solidFill>
              <a:srgbClr val="000000"/>
            </a:solidFill>
            <a:ln w="19050" cap="sq">
              <a:solidFill>
                <a:srgbClr val="FFFFFF"/>
              </a:solidFill>
              <a:prstDash val="solid"/>
              <a:miter/>
            </a:ln>
          </p:spPr>
        </p:sp>
        <p:sp>
          <p:nvSpPr>
            <p:cNvPr name="TextBox 5" id="5"/>
            <p:cNvSpPr txBox="true"/>
            <p:nvPr/>
          </p:nvSpPr>
          <p:spPr>
            <a:xfrm>
              <a:off x="0" y="47625"/>
              <a:ext cx="2630366" cy="1713175"/>
            </a:xfrm>
            <a:prstGeom prst="rect">
              <a:avLst/>
            </a:prstGeom>
          </p:spPr>
          <p:txBody>
            <a:bodyPr anchor="ctr" rtlCol="false" tIns="50800" lIns="50800" bIns="50800" rIns="50800"/>
            <a:lstStyle/>
            <a:p>
              <a:pPr algn="ctr">
                <a:lnSpc>
                  <a:spcPts val="1200"/>
                </a:lnSpc>
              </a:pPr>
            </a:p>
          </p:txBody>
        </p:sp>
      </p:grpSp>
      <p:grpSp>
        <p:nvGrpSpPr>
          <p:cNvPr name="Group 6" id="6"/>
          <p:cNvGrpSpPr/>
          <p:nvPr/>
        </p:nvGrpSpPr>
        <p:grpSpPr>
          <a:xfrm rot="5400000">
            <a:off x="2584670" y="2299257"/>
            <a:ext cx="719723" cy="3603062"/>
            <a:chOff x="0" y="0"/>
            <a:chExt cx="352658" cy="1765467"/>
          </a:xfrm>
        </p:grpSpPr>
        <p:sp>
          <p:nvSpPr>
            <p:cNvPr name="Freeform 7" id="7"/>
            <p:cNvSpPr/>
            <p:nvPr/>
          </p:nvSpPr>
          <p:spPr>
            <a:xfrm flipH="false" flipV="false" rot="0">
              <a:off x="0" y="0"/>
              <a:ext cx="352658" cy="1765467"/>
            </a:xfrm>
            <a:custGeom>
              <a:avLst/>
              <a:gdLst/>
              <a:ahLst/>
              <a:cxnLst/>
              <a:rect r="r" b="b" t="t" l="l"/>
              <a:pathLst>
                <a:path h="1765467" w="352658">
                  <a:moveTo>
                    <a:pt x="0" y="0"/>
                  </a:moveTo>
                  <a:lnTo>
                    <a:pt x="352658" y="0"/>
                  </a:lnTo>
                  <a:lnTo>
                    <a:pt x="352658" y="1765467"/>
                  </a:lnTo>
                  <a:lnTo>
                    <a:pt x="0" y="1765467"/>
                  </a:lnTo>
                  <a:close/>
                </a:path>
              </a:pathLst>
            </a:custGeom>
            <a:gradFill rotWithShape="true">
              <a:gsLst>
                <a:gs pos="0">
                  <a:srgbClr val="EE581E">
                    <a:alpha val="100000"/>
                  </a:srgbClr>
                </a:gs>
                <a:gs pos="100000">
                  <a:srgbClr val="000000">
                    <a:alpha val="100000"/>
                  </a:srgbClr>
                </a:gs>
              </a:gsLst>
              <a:lin ang="5400000"/>
            </a:gradFill>
            <a:ln w="19050" cap="sq">
              <a:solidFill>
                <a:srgbClr val="FFFFFF"/>
              </a:solidFill>
              <a:prstDash val="solid"/>
              <a:miter/>
            </a:ln>
          </p:spPr>
        </p:sp>
        <p:sp>
          <p:nvSpPr>
            <p:cNvPr name="TextBox 8" id="8"/>
            <p:cNvSpPr txBox="true"/>
            <p:nvPr/>
          </p:nvSpPr>
          <p:spPr>
            <a:xfrm>
              <a:off x="0" y="47625"/>
              <a:ext cx="352658" cy="1717842"/>
            </a:xfrm>
            <a:prstGeom prst="rect">
              <a:avLst/>
            </a:prstGeom>
          </p:spPr>
          <p:txBody>
            <a:bodyPr anchor="ctr" rtlCol="false" tIns="50800" lIns="50800" bIns="50800" rIns="50800"/>
            <a:lstStyle/>
            <a:p>
              <a:pPr algn="ctr">
                <a:lnSpc>
                  <a:spcPts val="1200"/>
                </a:lnSpc>
              </a:pPr>
            </a:p>
          </p:txBody>
        </p:sp>
      </p:grpSp>
      <p:grpSp>
        <p:nvGrpSpPr>
          <p:cNvPr name="Group 9" id="9"/>
          <p:cNvGrpSpPr/>
          <p:nvPr/>
        </p:nvGrpSpPr>
        <p:grpSpPr>
          <a:xfrm rot="5400000">
            <a:off x="4265897" y="4639705"/>
            <a:ext cx="5348743" cy="3512113"/>
            <a:chOff x="0" y="0"/>
            <a:chExt cx="2620835" cy="1720903"/>
          </a:xfrm>
        </p:grpSpPr>
        <p:sp>
          <p:nvSpPr>
            <p:cNvPr name="Freeform 10" id="10"/>
            <p:cNvSpPr/>
            <p:nvPr/>
          </p:nvSpPr>
          <p:spPr>
            <a:xfrm flipH="false" flipV="false" rot="0">
              <a:off x="0" y="0"/>
              <a:ext cx="2620835" cy="1720903"/>
            </a:xfrm>
            <a:custGeom>
              <a:avLst/>
              <a:gdLst/>
              <a:ahLst/>
              <a:cxnLst/>
              <a:rect r="r" b="b" t="t" l="l"/>
              <a:pathLst>
                <a:path h="1720903" w="2620835">
                  <a:moveTo>
                    <a:pt x="0" y="0"/>
                  </a:moveTo>
                  <a:lnTo>
                    <a:pt x="2620835" y="0"/>
                  </a:lnTo>
                  <a:lnTo>
                    <a:pt x="2620835" y="1720903"/>
                  </a:lnTo>
                  <a:lnTo>
                    <a:pt x="0" y="1720903"/>
                  </a:lnTo>
                  <a:close/>
                </a:path>
              </a:pathLst>
            </a:custGeom>
            <a:solidFill>
              <a:srgbClr val="000000"/>
            </a:solidFill>
            <a:ln w="19050" cap="sq">
              <a:solidFill>
                <a:srgbClr val="FFFFFF"/>
              </a:solidFill>
              <a:prstDash val="solid"/>
              <a:miter/>
            </a:ln>
          </p:spPr>
        </p:sp>
        <p:sp>
          <p:nvSpPr>
            <p:cNvPr name="TextBox 11" id="11"/>
            <p:cNvSpPr txBox="true"/>
            <p:nvPr/>
          </p:nvSpPr>
          <p:spPr>
            <a:xfrm>
              <a:off x="0" y="47625"/>
              <a:ext cx="2620835" cy="1673278"/>
            </a:xfrm>
            <a:prstGeom prst="rect">
              <a:avLst/>
            </a:prstGeom>
          </p:spPr>
          <p:txBody>
            <a:bodyPr anchor="ctr" rtlCol="false" tIns="50800" lIns="50800" bIns="50800" rIns="50800"/>
            <a:lstStyle/>
            <a:p>
              <a:pPr algn="ctr">
                <a:lnSpc>
                  <a:spcPts val="1200"/>
                </a:lnSpc>
              </a:pPr>
            </a:p>
          </p:txBody>
        </p:sp>
      </p:grpSp>
      <p:grpSp>
        <p:nvGrpSpPr>
          <p:cNvPr name="Group 12" id="12"/>
          <p:cNvGrpSpPr/>
          <p:nvPr/>
        </p:nvGrpSpPr>
        <p:grpSpPr>
          <a:xfrm rot="5400000">
            <a:off x="6588460" y="2339915"/>
            <a:ext cx="719723" cy="3515057"/>
            <a:chOff x="0" y="0"/>
            <a:chExt cx="352658" cy="1722346"/>
          </a:xfrm>
        </p:grpSpPr>
        <p:sp>
          <p:nvSpPr>
            <p:cNvPr name="Freeform 13" id="13"/>
            <p:cNvSpPr/>
            <p:nvPr/>
          </p:nvSpPr>
          <p:spPr>
            <a:xfrm flipH="false" flipV="false" rot="0">
              <a:off x="0" y="0"/>
              <a:ext cx="352658" cy="1722346"/>
            </a:xfrm>
            <a:custGeom>
              <a:avLst/>
              <a:gdLst/>
              <a:ahLst/>
              <a:cxnLst/>
              <a:rect r="r" b="b" t="t" l="l"/>
              <a:pathLst>
                <a:path h="1722346" w="352658">
                  <a:moveTo>
                    <a:pt x="0" y="0"/>
                  </a:moveTo>
                  <a:lnTo>
                    <a:pt x="352658" y="0"/>
                  </a:lnTo>
                  <a:lnTo>
                    <a:pt x="352658" y="1722346"/>
                  </a:lnTo>
                  <a:lnTo>
                    <a:pt x="0" y="1722346"/>
                  </a:lnTo>
                  <a:close/>
                </a:path>
              </a:pathLst>
            </a:custGeom>
            <a:gradFill rotWithShape="true">
              <a:gsLst>
                <a:gs pos="0">
                  <a:srgbClr val="EE581E">
                    <a:alpha val="100000"/>
                  </a:srgbClr>
                </a:gs>
                <a:gs pos="100000">
                  <a:srgbClr val="000000">
                    <a:alpha val="100000"/>
                  </a:srgbClr>
                </a:gs>
              </a:gsLst>
              <a:lin ang="5400000"/>
            </a:gradFill>
            <a:ln w="19050" cap="sq">
              <a:solidFill>
                <a:srgbClr val="FFFFFF"/>
              </a:solidFill>
              <a:prstDash val="solid"/>
              <a:miter/>
            </a:ln>
          </p:spPr>
        </p:sp>
        <p:sp>
          <p:nvSpPr>
            <p:cNvPr name="TextBox 14" id="14"/>
            <p:cNvSpPr txBox="true"/>
            <p:nvPr/>
          </p:nvSpPr>
          <p:spPr>
            <a:xfrm>
              <a:off x="0" y="47625"/>
              <a:ext cx="352658" cy="1674721"/>
            </a:xfrm>
            <a:prstGeom prst="rect">
              <a:avLst/>
            </a:prstGeom>
          </p:spPr>
          <p:txBody>
            <a:bodyPr anchor="ctr" rtlCol="false" tIns="50800" lIns="50800" bIns="50800" rIns="50800"/>
            <a:lstStyle/>
            <a:p>
              <a:pPr algn="ctr">
                <a:lnSpc>
                  <a:spcPts val="1200"/>
                </a:lnSpc>
              </a:pPr>
            </a:p>
          </p:txBody>
        </p:sp>
      </p:grpSp>
      <p:grpSp>
        <p:nvGrpSpPr>
          <p:cNvPr name="Group 15" id="15"/>
          <p:cNvGrpSpPr/>
          <p:nvPr/>
        </p:nvGrpSpPr>
        <p:grpSpPr>
          <a:xfrm rot="5400000">
            <a:off x="8231183" y="4650399"/>
            <a:ext cx="5332551" cy="3506918"/>
            <a:chOff x="0" y="0"/>
            <a:chExt cx="2612901" cy="1718357"/>
          </a:xfrm>
        </p:grpSpPr>
        <p:sp>
          <p:nvSpPr>
            <p:cNvPr name="Freeform 16" id="16"/>
            <p:cNvSpPr/>
            <p:nvPr/>
          </p:nvSpPr>
          <p:spPr>
            <a:xfrm flipH="false" flipV="false" rot="0">
              <a:off x="0" y="0"/>
              <a:ext cx="2612901" cy="1718357"/>
            </a:xfrm>
            <a:custGeom>
              <a:avLst/>
              <a:gdLst/>
              <a:ahLst/>
              <a:cxnLst/>
              <a:rect r="r" b="b" t="t" l="l"/>
              <a:pathLst>
                <a:path h="1718357" w="2612901">
                  <a:moveTo>
                    <a:pt x="0" y="0"/>
                  </a:moveTo>
                  <a:lnTo>
                    <a:pt x="2612901" y="0"/>
                  </a:lnTo>
                  <a:lnTo>
                    <a:pt x="2612901" y="1718357"/>
                  </a:lnTo>
                  <a:lnTo>
                    <a:pt x="0" y="1718357"/>
                  </a:lnTo>
                  <a:close/>
                </a:path>
              </a:pathLst>
            </a:custGeom>
            <a:solidFill>
              <a:srgbClr val="000000"/>
            </a:solidFill>
            <a:ln w="19050" cap="sq">
              <a:solidFill>
                <a:srgbClr val="FFFFFF"/>
              </a:solidFill>
              <a:prstDash val="solid"/>
              <a:miter/>
            </a:ln>
          </p:spPr>
        </p:sp>
        <p:sp>
          <p:nvSpPr>
            <p:cNvPr name="TextBox 17" id="17"/>
            <p:cNvSpPr txBox="true"/>
            <p:nvPr/>
          </p:nvSpPr>
          <p:spPr>
            <a:xfrm>
              <a:off x="0" y="47625"/>
              <a:ext cx="2612901" cy="1670732"/>
            </a:xfrm>
            <a:prstGeom prst="rect">
              <a:avLst/>
            </a:prstGeom>
          </p:spPr>
          <p:txBody>
            <a:bodyPr anchor="ctr" rtlCol="false" tIns="50800" lIns="50800" bIns="50800" rIns="50800"/>
            <a:lstStyle/>
            <a:p>
              <a:pPr algn="ctr">
                <a:lnSpc>
                  <a:spcPts val="1200"/>
                </a:lnSpc>
              </a:pPr>
            </a:p>
          </p:txBody>
        </p:sp>
      </p:grpSp>
      <p:grpSp>
        <p:nvGrpSpPr>
          <p:cNvPr name="Group 18" id="18"/>
          <p:cNvGrpSpPr/>
          <p:nvPr/>
        </p:nvGrpSpPr>
        <p:grpSpPr>
          <a:xfrm rot="5400000">
            <a:off x="10538958" y="2345346"/>
            <a:ext cx="719723" cy="3504196"/>
            <a:chOff x="0" y="0"/>
            <a:chExt cx="352658" cy="1717024"/>
          </a:xfrm>
        </p:grpSpPr>
        <p:sp>
          <p:nvSpPr>
            <p:cNvPr name="Freeform 19" id="19"/>
            <p:cNvSpPr/>
            <p:nvPr/>
          </p:nvSpPr>
          <p:spPr>
            <a:xfrm flipH="false" flipV="false" rot="0">
              <a:off x="0" y="0"/>
              <a:ext cx="352658" cy="1717023"/>
            </a:xfrm>
            <a:custGeom>
              <a:avLst/>
              <a:gdLst/>
              <a:ahLst/>
              <a:cxnLst/>
              <a:rect r="r" b="b" t="t" l="l"/>
              <a:pathLst>
                <a:path h="1717023" w="352658">
                  <a:moveTo>
                    <a:pt x="0" y="0"/>
                  </a:moveTo>
                  <a:lnTo>
                    <a:pt x="352658" y="0"/>
                  </a:lnTo>
                  <a:lnTo>
                    <a:pt x="352658" y="1717023"/>
                  </a:lnTo>
                  <a:lnTo>
                    <a:pt x="0" y="1717023"/>
                  </a:lnTo>
                  <a:close/>
                </a:path>
              </a:pathLst>
            </a:custGeom>
            <a:gradFill rotWithShape="true">
              <a:gsLst>
                <a:gs pos="0">
                  <a:srgbClr val="EE581E">
                    <a:alpha val="100000"/>
                  </a:srgbClr>
                </a:gs>
                <a:gs pos="100000">
                  <a:srgbClr val="000000">
                    <a:alpha val="100000"/>
                  </a:srgbClr>
                </a:gs>
              </a:gsLst>
              <a:lin ang="5400000"/>
            </a:gradFill>
            <a:ln w="19050" cap="sq">
              <a:solidFill>
                <a:srgbClr val="FFFFFF"/>
              </a:solidFill>
              <a:prstDash val="solid"/>
              <a:miter/>
            </a:ln>
          </p:spPr>
        </p:sp>
        <p:sp>
          <p:nvSpPr>
            <p:cNvPr name="TextBox 20" id="20"/>
            <p:cNvSpPr txBox="true"/>
            <p:nvPr/>
          </p:nvSpPr>
          <p:spPr>
            <a:xfrm>
              <a:off x="0" y="47625"/>
              <a:ext cx="352658" cy="1669399"/>
            </a:xfrm>
            <a:prstGeom prst="rect">
              <a:avLst/>
            </a:prstGeom>
          </p:spPr>
          <p:txBody>
            <a:bodyPr anchor="ctr" rtlCol="false" tIns="50800" lIns="50800" bIns="50800" rIns="50800"/>
            <a:lstStyle/>
            <a:p>
              <a:pPr algn="ctr">
                <a:lnSpc>
                  <a:spcPts val="1200"/>
                </a:lnSpc>
              </a:pPr>
            </a:p>
          </p:txBody>
        </p:sp>
      </p:grpSp>
      <p:grpSp>
        <p:nvGrpSpPr>
          <p:cNvPr name="Group 21" id="21"/>
          <p:cNvGrpSpPr/>
          <p:nvPr/>
        </p:nvGrpSpPr>
        <p:grpSpPr>
          <a:xfrm rot="-5400000">
            <a:off x="20229322" y="5498628"/>
            <a:ext cx="1714493" cy="7976552"/>
            <a:chOff x="0" y="0"/>
            <a:chExt cx="451554" cy="2100820"/>
          </a:xfrm>
        </p:grpSpPr>
        <p:sp>
          <p:nvSpPr>
            <p:cNvPr name="Freeform 22" id="22"/>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3" id="23"/>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4" id="24"/>
          <p:cNvGrpSpPr/>
          <p:nvPr/>
        </p:nvGrpSpPr>
        <p:grpSpPr>
          <a:xfrm rot="-5400000">
            <a:off x="19455934" y="3999715"/>
            <a:ext cx="1714493" cy="7976552"/>
            <a:chOff x="0" y="0"/>
            <a:chExt cx="451554" cy="2100820"/>
          </a:xfrm>
        </p:grpSpPr>
        <p:sp>
          <p:nvSpPr>
            <p:cNvPr name="Freeform 25" id="25"/>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6" id="26"/>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7" id="27"/>
          <p:cNvGrpSpPr/>
          <p:nvPr/>
        </p:nvGrpSpPr>
        <p:grpSpPr>
          <a:xfrm rot="-5400000">
            <a:off x="18548998" y="2495908"/>
            <a:ext cx="1714493" cy="7976552"/>
            <a:chOff x="0" y="0"/>
            <a:chExt cx="451554" cy="2100820"/>
          </a:xfrm>
        </p:grpSpPr>
        <p:sp>
          <p:nvSpPr>
            <p:cNvPr name="Freeform 28" id="28"/>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9" id="29"/>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30" id="30"/>
          <p:cNvGrpSpPr/>
          <p:nvPr/>
        </p:nvGrpSpPr>
        <p:grpSpPr>
          <a:xfrm rot="-5400000">
            <a:off x="17775609" y="996995"/>
            <a:ext cx="1714493" cy="7976552"/>
            <a:chOff x="0" y="0"/>
            <a:chExt cx="451554" cy="2100820"/>
          </a:xfrm>
        </p:grpSpPr>
        <p:sp>
          <p:nvSpPr>
            <p:cNvPr name="Freeform 31" id="31"/>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32" id="32"/>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33" id="33"/>
          <p:cNvGrpSpPr/>
          <p:nvPr/>
        </p:nvGrpSpPr>
        <p:grpSpPr>
          <a:xfrm rot="-5400000">
            <a:off x="17002221" y="-501918"/>
            <a:ext cx="1714493" cy="7976552"/>
            <a:chOff x="0" y="0"/>
            <a:chExt cx="451554" cy="2100820"/>
          </a:xfrm>
        </p:grpSpPr>
        <p:sp>
          <p:nvSpPr>
            <p:cNvPr name="Freeform 34" id="34"/>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35" id="35"/>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36" id="36"/>
          <p:cNvGrpSpPr/>
          <p:nvPr/>
        </p:nvGrpSpPr>
        <p:grpSpPr>
          <a:xfrm rot="-5400000">
            <a:off x="16228832" y="-2000831"/>
            <a:ext cx="1714493" cy="7976552"/>
            <a:chOff x="0" y="0"/>
            <a:chExt cx="451554" cy="2100820"/>
          </a:xfrm>
        </p:grpSpPr>
        <p:sp>
          <p:nvSpPr>
            <p:cNvPr name="Freeform 37" id="37"/>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38" id="38"/>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39" id="39"/>
          <p:cNvGrpSpPr/>
          <p:nvPr/>
        </p:nvGrpSpPr>
        <p:grpSpPr>
          <a:xfrm rot="-5400000">
            <a:off x="15455444" y="-3499744"/>
            <a:ext cx="1714493" cy="7976552"/>
            <a:chOff x="0" y="0"/>
            <a:chExt cx="451554" cy="2100820"/>
          </a:xfrm>
        </p:grpSpPr>
        <p:sp>
          <p:nvSpPr>
            <p:cNvPr name="Freeform 40" id="40"/>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41" id="41"/>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42" id="42"/>
          <p:cNvGrpSpPr/>
          <p:nvPr/>
        </p:nvGrpSpPr>
        <p:grpSpPr>
          <a:xfrm rot="5400000">
            <a:off x="12140708" y="4678484"/>
            <a:ext cx="5348743" cy="3434554"/>
            <a:chOff x="0" y="0"/>
            <a:chExt cx="2620835" cy="1682900"/>
          </a:xfrm>
        </p:grpSpPr>
        <p:sp>
          <p:nvSpPr>
            <p:cNvPr name="Freeform 43" id="43"/>
            <p:cNvSpPr/>
            <p:nvPr/>
          </p:nvSpPr>
          <p:spPr>
            <a:xfrm flipH="false" flipV="false" rot="0">
              <a:off x="0" y="0"/>
              <a:ext cx="2620835" cy="1682900"/>
            </a:xfrm>
            <a:custGeom>
              <a:avLst/>
              <a:gdLst/>
              <a:ahLst/>
              <a:cxnLst/>
              <a:rect r="r" b="b" t="t" l="l"/>
              <a:pathLst>
                <a:path h="1682900" w="2620835">
                  <a:moveTo>
                    <a:pt x="0" y="0"/>
                  </a:moveTo>
                  <a:lnTo>
                    <a:pt x="2620835" y="0"/>
                  </a:lnTo>
                  <a:lnTo>
                    <a:pt x="2620835" y="1682900"/>
                  </a:lnTo>
                  <a:lnTo>
                    <a:pt x="0" y="1682900"/>
                  </a:lnTo>
                  <a:close/>
                </a:path>
              </a:pathLst>
            </a:custGeom>
            <a:solidFill>
              <a:srgbClr val="000000"/>
            </a:solidFill>
            <a:ln w="19050" cap="sq">
              <a:solidFill>
                <a:srgbClr val="FFFFFF"/>
              </a:solidFill>
              <a:prstDash val="solid"/>
              <a:miter/>
            </a:ln>
          </p:spPr>
        </p:sp>
        <p:sp>
          <p:nvSpPr>
            <p:cNvPr name="TextBox 44" id="44"/>
            <p:cNvSpPr txBox="true"/>
            <p:nvPr/>
          </p:nvSpPr>
          <p:spPr>
            <a:xfrm>
              <a:off x="0" y="47625"/>
              <a:ext cx="2620835" cy="1635275"/>
            </a:xfrm>
            <a:prstGeom prst="rect">
              <a:avLst/>
            </a:prstGeom>
          </p:spPr>
          <p:txBody>
            <a:bodyPr anchor="ctr" rtlCol="false" tIns="50800" lIns="50800" bIns="50800" rIns="50800"/>
            <a:lstStyle/>
            <a:p>
              <a:pPr algn="ctr">
                <a:lnSpc>
                  <a:spcPts val="1200"/>
                </a:lnSpc>
              </a:pPr>
            </a:p>
          </p:txBody>
        </p:sp>
      </p:grpSp>
      <p:grpSp>
        <p:nvGrpSpPr>
          <p:cNvPr name="Group 45" id="45"/>
          <p:cNvGrpSpPr/>
          <p:nvPr/>
        </p:nvGrpSpPr>
        <p:grpSpPr>
          <a:xfrm rot="5400000">
            <a:off x="14423220" y="2405985"/>
            <a:ext cx="774196" cy="3444079"/>
            <a:chOff x="0" y="0"/>
            <a:chExt cx="379349" cy="1687567"/>
          </a:xfrm>
        </p:grpSpPr>
        <p:sp>
          <p:nvSpPr>
            <p:cNvPr name="Freeform 46" id="46"/>
            <p:cNvSpPr/>
            <p:nvPr/>
          </p:nvSpPr>
          <p:spPr>
            <a:xfrm flipH="false" flipV="false" rot="0">
              <a:off x="0" y="0"/>
              <a:ext cx="379349" cy="1687567"/>
            </a:xfrm>
            <a:custGeom>
              <a:avLst/>
              <a:gdLst/>
              <a:ahLst/>
              <a:cxnLst/>
              <a:rect r="r" b="b" t="t" l="l"/>
              <a:pathLst>
                <a:path h="1687567" w="379349">
                  <a:moveTo>
                    <a:pt x="0" y="0"/>
                  </a:moveTo>
                  <a:lnTo>
                    <a:pt x="379349" y="0"/>
                  </a:lnTo>
                  <a:lnTo>
                    <a:pt x="379349" y="1687567"/>
                  </a:lnTo>
                  <a:lnTo>
                    <a:pt x="0" y="1687567"/>
                  </a:lnTo>
                  <a:close/>
                </a:path>
              </a:pathLst>
            </a:custGeom>
            <a:gradFill rotWithShape="true">
              <a:gsLst>
                <a:gs pos="0">
                  <a:srgbClr val="EE581E">
                    <a:alpha val="100000"/>
                  </a:srgbClr>
                </a:gs>
                <a:gs pos="100000">
                  <a:srgbClr val="000000">
                    <a:alpha val="100000"/>
                  </a:srgbClr>
                </a:gs>
              </a:gsLst>
              <a:lin ang="5400000"/>
            </a:gradFill>
            <a:ln w="19050" cap="sq">
              <a:solidFill>
                <a:srgbClr val="FFFFFF"/>
              </a:solidFill>
              <a:prstDash val="solid"/>
              <a:miter/>
            </a:ln>
          </p:spPr>
        </p:sp>
        <p:sp>
          <p:nvSpPr>
            <p:cNvPr name="TextBox 47" id="47"/>
            <p:cNvSpPr txBox="true"/>
            <p:nvPr/>
          </p:nvSpPr>
          <p:spPr>
            <a:xfrm>
              <a:off x="0" y="47625"/>
              <a:ext cx="379349" cy="1639942"/>
            </a:xfrm>
            <a:prstGeom prst="rect">
              <a:avLst/>
            </a:prstGeom>
          </p:spPr>
          <p:txBody>
            <a:bodyPr anchor="ctr" rtlCol="false" tIns="50800" lIns="50800" bIns="50800" rIns="50800"/>
            <a:lstStyle/>
            <a:p>
              <a:pPr algn="ctr">
                <a:lnSpc>
                  <a:spcPts val="1200"/>
                </a:lnSpc>
              </a:pPr>
            </a:p>
          </p:txBody>
        </p:sp>
      </p:grpSp>
      <p:sp>
        <p:nvSpPr>
          <p:cNvPr name="TextBox 48" id="48"/>
          <p:cNvSpPr txBox="true"/>
          <p:nvPr/>
        </p:nvSpPr>
        <p:spPr>
          <a:xfrm rot="0">
            <a:off x="890461" y="3932449"/>
            <a:ext cx="4169077" cy="828984"/>
          </a:xfrm>
          <a:prstGeom prst="rect">
            <a:avLst/>
          </a:prstGeom>
        </p:spPr>
        <p:txBody>
          <a:bodyPr anchor="t" rtlCol="false" tIns="0" lIns="0" bIns="0" rIns="0">
            <a:spAutoFit/>
          </a:bodyPr>
          <a:lstStyle/>
          <a:p>
            <a:pPr algn="ctr" marL="0" indent="0" lvl="0">
              <a:lnSpc>
                <a:spcPts val="2169"/>
              </a:lnSpc>
            </a:pPr>
            <a:r>
              <a:rPr lang="en-US" sz="1886">
                <a:solidFill>
                  <a:srgbClr val="FFFFFF"/>
                </a:solidFill>
                <a:latin typeface="Montserrat"/>
                <a:ea typeface="Montserrat"/>
                <a:cs typeface="Montserrat"/>
                <a:sym typeface="Montserrat"/>
              </a:rPr>
              <a:t>Contextual</a:t>
            </a:r>
            <a:r>
              <a:rPr lang="en-US" sz="1886">
                <a:solidFill>
                  <a:srgbClr val="FFFFFF"/>
                </a:solidFill>
                <a:latin typeface="Montserrat"/>
                <a:ea typeface="Montserrat"/>
                <a:cs typeface="Montserrat"/>
                <a:sym typeface="Montserrat"/>
              </a:rPr>
              <a:t> Manipulation</a:t>
            </a:r>
          </a:p>
          <a:p>
            <a:pPr algn="ctr" marL="0" indent="0" lvl="0">
              <a:lnSpc>
                <a:spcPts val="2169"/>
              </a:lnSpc>
            </a:pPr>
          </a:p>
          <a:p>
            <a:pPr algn="ctr">
              <a:lnSpc>
                <a:spcPts val="2169"/>
              </a:lnSpc>
            </a:pPr>
          </a:p>
        </p:txBody>
      </p:sp>
      <p:sp>
        <p:nvSpPr>
          <p:cNvPr name="TextBox 49" id="49"/>
          <p:cNvSpPr txBox="true"/>
          <p:nvPr/>
        </p:nvSpPr>
        <p:spPr>
          <a:xfrm rot="0">
            <a:off x="1425099" y="5004321"/>
            <a:ext cx="3038863" cy="3254269"/>
          </a:xfrm>
          <a:prstGeom prst="rect">
            <a:avLst/>
          </a:prstGeom>
        </p:spPr>
        <p:txBody>
          <a:bodyPr anchor="t" rtlCol="false" tIns="0" lIns="0" bIns="0" rIns="0">
            <a:spAutoFit/>
          </a:bodyPr>
          <a:lstStyle/>
          <a:p>
            <a:pPr algn="l" marL="0" indent="0" lvl="0">
              <a:lnSpc>
                <a:spcPts val="2855"/>
              </a:lnSpc>
            </a:pPr>
            <a:r>
              <a:rPr lang="en-US" sz="2483">
                <a:solidFill>
                  <a:srgbClr val="FFFFFF"/>
                </a:solidFill>
                <a:latin typeface="Montserrat"/>
                <a:ea typeface="Montserrat"/>
                <a:cs typeface="Montserrat"/>
                <a:sym typeface="Montserrat"/>
              </a:rPr>
              <a:t>These sophisticated</a:t>
            </a:r>
            <a:r>
              <a:rPr lang="en-US" sz="2483">
                <a:solidFill>
                  <a:srgbClr val="FFFFFF"/>
                </a:solidFill>
                <a:latin typeface="Montserrat"/>
                <a:ea typeface="Montserrat"/>
                <a:cs typeface="Montserrat"/>
                <a:sym typeface="Montserrat"/>
              </a:rPr>
              <a:t> attacks append additional text to test how models handle distractors and context overflow.</a:t>
            </a:r>
          </a:p>
          <a:p>
            <a:pPr algn="l">
              <a:lnSpc>
                <a:spcPts val="2855"/>
              </a:lnSpc>
            </a:pPr>
          </a:p>
        </p:txBody>
      </p:sp>
      <p:sp>
        <p:nvSpPr>
          <p:cNvPr name="TextBox 50" id="50"/>
          <p:cNvSpPr txBox="true"/>
          <p:nvPr/>
        </p:nvSpPr>
        <p:spPr>
          <a:xfrm rot="0">
            <a:off x="5339902" y="3909306"/>
            <a:ext cx="3200732" cy="678099"/>
          </a:xfrm>
          <a:prstGeom prst="rect">
            <a:avLst/>
          </a:prstGeom>
        </p:spPr>
        <p:txBody>
          <a:bodyPr anchor="t" rtlCol="false" tIns="0" lIns="0" bIns="0" rIns="0">
            <a:spAutoFit/>
          </a:bodyPr>
          <a:lstStyle/>
          <a:p>
            <a:pPr algn="ctr">
              <a:lnSpc>
                <a:spcPts val="2612"/>
              </a:lnSpc>
            </a:pPr>
            <a:r>
              <a:rPr lang="en-US" sz="2272">
                <a:solidFill>
                  <a:srgbClr val="FFFFFF"/>
                </a:solidFill>
                <a:latin typeface="Montserrat"/>
                <a:ea typeface="Montserrat"/>
                <a:cs typeface="Montserrat"/>
                <a:sym typeface="Montserrat"/>
              </a:rPr>
              <a:t>Che</a:t>
            </a:r>
            <a:r>
              <a:rPr lang="en-US" sz="2272">
                <a:solidFill>
                  <a:srgbClr val="FFFFFF"/>
                </a:solidFill>
                <a:latin typeface="Montserrat"/>
                <a:ea typeface="Montserrat"/>
                <a:cs typeface="Montserrat"/>
                <a:sym typeface="Montserrat"/>
              </a:rPr>
              <a:t>ckList</a:t>
            </a:r>
          </a:p>
          <a:p>
            <a:pPr algn="ctr">
              <a:lnSpc>
                <a:spcPts val="2612"/>
              </a:lnSpc>
            </a:pPr>
          </a:p>
        </p:txBody>
      </p:sp>
      <p:sp>
        <p:nvSpPr>
          <p:cNvPr name="TextBox 51" id="51"/>
          <p:cNvSpPr txBox="true"/>
          <p:nvPr/>
        </p:nvSpPr>
        <p:spPr>
          <a:xfrm rot="0">
            <a:off x="5461529" y="4855518"/>
            <a:ext cx="2957479" cy="3616352"/>
          </a:xfrm>
          <a:prstGeom prst="rect">
            <a:avLst/>
          </a:prstGeom>
        </p:spPr>
        <p:txBody>
          <a:bodyPr anchor="t" rtlCol="false" tIns="0" lIns="0" bIns="0" rIns="0">
            <a:spAutoFit/>
          </a:bodyPr>
          <a:lstStyle/>
          <a:p>
            <a:pPr algn="l" marL="0" indent="0" lvl="0">
              <a:lnSpc>
                <a:spcPts val="2879"/>
              </a:lnSpc>
            </a:pPr>
            <a:r>
              <a:rPr lang="en-US" sz="2504">
                <a:solidFill>
                  <a:srgbClr val="FFFFFF"/>
                </a:solidFill>
                <a:latin typeface="Montserrat"/>
                <a:ea typeface="Montserrat"/>
                <a:cs typeface="Montserrat"/>
                <a:sym typeface="Montserrat"/>
              </a:rPr>
              <a:t>Appends irrelevant distractor sentences t</a:t>
            </a:r>
            <a:r>
              <a:rPr lang="en-US" sz="2504">
                <a:solidFill>
                  <a:srgbClr val="FFFFFF"/>
                </a:solidFill>
                <a:latin typeface="Montserrat"/>
                <a:ea typeface="Montserrat"/>
                <a:cs typeface="Montserrat"/>
                <a:sym typeface="Montserrat"/>
              </a:rPr>
              <a:t>o evaluate whether the model can maintain focus on the primary task despite noise.</a:t>
            </a:r>
          </a:p>
          <a:p>
            <a:pPr algn="l">
              <a:lnSpc>
                <a:spcPts val="2879"/>
              </a:lnSpc>
            </a:pPr>
          </a:p>
        </p:txBody>
      </p:sp>
      <p:sp>
        <p:nvSpPr>
          <p:cNvPr name="TextBox 52" id="52"/>
          <p:cNvSpPr txBox="true"/>
          <p:nvPr/>
        </p:nvSpPr>
        <p:spPr>
          <a:xfrm rot="0">
            <a:off x="9372627" y="3918831"/>
            <a:ext cx="3052385" cy="637146"/>
          </a:xfrm>
          <a:prstGeom prst="rect">
            <a:avLst/>
          </a:prstGeom>
        </p:spPr>
        <p:txBody>
          <a:bodyPr anchor="t" rtlCol="false" tIns="0" lIns="0" bIns="0" rIns="0">
            <a:spAutoFit/>
          </a:bodyPr>
          <a:lstStyle/>
          <a:p>
            <a:pPr algn="ctr">
              <a:lnSpc>
                <a:spcPts val="2491"/>
              </a:lnSpc>
            </a:pPr>
            <a:r>
              <a:rPr lang="en-US" sz="2166">
                <a:solidFill>
                  <a:srgbClr val="FFFFFF"/>
                </a:solidFill>
                <a:latin typeface="Montserrat"/>
                <a:ea typeface="Montserrat"/>
                <a:cs typeface="Montserrat"/>
                <a:sym typeface="Montserrat"/>
              </a:rPr>
              <a:t>St</a:t>
            </a:r>
            <a:r>
              <a:rPr lang="en-US" sz="2166">
                <a:solidFill>
                  <a:srgbClr val="FFFFFF"/>
                </a:solidFill>
                <a:latin typeface="Montserrat"/>
                <a:ea typeface="Montserrat"/>
                <a:cs typeface="Montserrat"/>
                <a:sym typeface="Montserrat"/>
              </a:rPr>
              <a:t>ressTest</a:t>
            </a:r>
          </a:p>
          <a:p>
            <a:pPr algn="ctr">
              <a:lnSpc>
                <a:spcPts val="2491"/>
              </a:lnSpc>
            </a:pPr>
          </a:p>
        </p:txBody>
      </p:sp>
      <p:sp>
        <p:nvSpPr>
          <p:cNvPr name="TextBox 53" id="53"/>
          <p:cNvSpPr txBox="true"/>
          <p:nvPr/>
        </p:nvSpPr>
        <p:spPr>
          <a:xfrm rot="0">
            <a:off x="9463012" y="4899894"/>
            <a:ext cx="2861403" cy="3626054"/>
          </a:xfrm>
          <a:prstGeom prst="rect">
            <a:avLst/>
          </a:prstGeom>
        </p:spPr>
        <p:txBody>
          <a:bodyPr anchor="t" rtlCol="false" tIns="0" lIns="0" bIns="0" rIns="0">
            <a:spAutoFit/>
          </a:bodyPr>
          <a:lstStyle/>
          <a:p>
            <a:pPr algn="l" marL="0" indent="0" lvl="0">
              <a:lnSpc>
                <a:spcPts val="2911"/>
              </a:lnSpc>
            </a:pPr>
            <a:r>
              <a:rPr lang="en-US" sz="2532">
                <a:solidFill>
                  <a:srgbClr val="FFFFFF"/>
                </a:solidFill>
                <a:latin typeface="Montserrat"/>
                <a:ea typeface="Montserrat"/>
                <a:cs typeface="Montserrat"/>
                <a:sym typeface="Montserrat"/>
              </a:rPr>
              <a:t>Appends repeated filler text t</a:t>
            </a:r>
            <a:r>
              <a:rPr lang="en-US" sz="2532">
                <a:solidFill>
                  <a:srgbClr val="FFFFFF"/>
                </a:solidFill>
                <a:latin typeface="Montserrat"/>
                <a:ea typeface="Montserrat"/>
                <a:cs typeface="Montserrat"/>
                <a:sym typeface="Montserrat"/>
              </a:rPr>
              <a:t>o evaluate context handling capacity and attention mechanisms under extreme conditions.</a:t>
            </a:r>
          </a:p>
          <a:p>
            <a:pPr algn="l">
              <a:lnSpc>
                <a:spcPts val="2911"/>
              </a:lnSpc>
            </a:pPr>
          </a:p>
        </p:txBody>
      </p:sp>
      <p:sp>
        <p:nvSpPr>
          <p:cNvPr name="TextBox 54" id="54"/>
          <p:cNvSpPr txBox="true"/>
          <p:nvPr/>
        </p:nvSpPr>
        <p:spPr>
          <a:xfrm rot="0">
            <a:off x="13401079" y="3941974"/>
            <a:ext cx="2923826" cy="600384"/>
          </a:xfrm>
          <a:prstGeom prst="rect">
            <a:avLst/>
          </a:prstGeom>
        </p:spPr>
        <p:txBody>
          <a:bodyPr anchor="t" rtlCol="false" tIns="0" lIns="0" bIns="0" rIns="0">
            <a:spAutoFit/>
          </a:bodyPr>
          <a:lstStyle/>
          <a:p>
            <a:pPr algn="ctr" marL="0" indent="0" lvl="0">
              <a:lnSpc>
                <a:spcPts val="2386"/>
              </a:lnSpc>
            </a:pPr>
            <a:r>
              <a:rPr lang="en-US" sz="2075">
                <a:solidFill>
                  <a:srgbClr val="FFFFFF"/>
                </a:solidFill>
                <a:latin typeface="Montserrat"/>
                <a:ea typeface="Montserrat"/>
                <a:cs typeface="Montserrat"/>
                <a:sym typeface="Montserrat"/>
              </a:rPr>
              <a:t>Imp</a:t>
            </a:r>
            <a:r>
              <a:rPr lang="en-US" sz="2075">
                <a:solidFill>
                  <a:srgbClr val="FFFFFF"/>
                </a:solidFill>
                <a:latin typeface="Montserrat"/>
                <a:ea typeface="Montserrat"/>
                <a:cs typeface="Montserrat"/>
                <a:sym typeface="Montserrat"/>
              </a:rPr>
              <a:t>ortance Ranking</a:t>
            </a:r>
          </a:p>
          <a:p>
            <a:pPr algn="ctr">
              <a:lnSpc>
                <a:spcPts val="2386"/>
              </a:lnSpc>
            </a:pPr>
          </a:p>
        </p:txBody>
      </p:sp>
      <p:sp>
        <p:nvSpPr>
          <p:cNvPr name="TextBox 55" id="55"/>
          <p:cNvSpPr txBox="true"/>
          <p:nvPr/>
        </p:nvSpPr>
        <p:spPr>
          <a:xfrm rot="0">
            <a:off x="13446789" y="4994796"/>
            <a:ext cx="2736582" cy="3436420"/>
          </a:xfrm>
          <a:prstGeom prst="rect">
            <a:avLst/>
          </a:prstGeom>
        </p:spPr>
        <p:txBody>
          <a:bodyPr anchor="t" rtlCol="false" tIns="0" lIns="0" bIns="0" rIns="0">
            <a:spAutoFit/>
          </a:bodyPr>
          <a:lstStyle/>
          <a:p>
            <a:pPr algn="l" marL="0" indent="0" lvl="0">
              <a:lnSpc>
                <a:spcPts val="3068"/>
              </a:lnSpc>
            </a:pPr>
            <a:r>
              <a:rPr lang="en-US" sz="2668">
                <a:solidFill>
                  <a:srgbClr val="FFFFFF"/>
                </a:solidFill>
                <a:latin typeface="Montserrat"/>
                <a:ea typeface="Montserrat"/>
                <a:cs typeface="Montserrat"/>
                <a:sym typeface="Montserrat"/>
              </a:rPr>
              <a:t>The system identifies critical</a:t>
            </a:r>
            <a:r>
              <a:rPr lang="en-US" sz="2668">
                <a:solidFill>
                  <a:srgbClr val="FFFFFF"/>
                </a:solidFill>
                <a:latin typeface="Montserrat"/>
                <a:ea typeface="Montserrat"/>
                <a:cs typeface="Montserrat"/>
                <a:sym typeface="Montserrat"/>
              </a:rPr>
              <a:t> words in a prompt using gradient-based analysis to target attacks effectively.</a:t>
            </a:r>
          </a:p>
          <a:p>
            <a:pPr algn="l">
              <a:lnSpc>
                <a:spcPts val="306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5523174" y="0"/>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9963670" y="-776708"/>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87834" y="1083887"/>
            <a:ext cx="4718985" cy="2605148"/>
          </a:xfrm>
          <a:prstGeom prst="rect">
            <a:avLst/>
          </a:prstGeom>
        </p:spPr>
        <p:txBody>
          <a:bodyPr anchor="t" rtlCol="false" tIns="0" lIns="0" bIns="0" rIns="0">
            <a:spAutoFit/>
          </a:bodyPr>
          <a:lstStyle/>
          <a:p>
            <a:pPr algn="l">
              <a:lnSpc>
                <a:spcPts val="9709"/>
              </a:lnSpc>
            </a:pPr>
            <a:r>
              <a:rPr lang="en-US" sz="6935">
                <a:gradFill>
                  <a:gsLst>
                    <a:gs pos="0">
                      <a:srgbClr val="FF3131">
                        <a:alpha val="100000"/>
                      </a:srgbClr>
                    </a:gs>
                    <a:gs pos="100000">
                      <a:srgbClr val="FF914D">
                        <a:alpha val="100000"/>
                      </a:srgbClr>
                    </a:gs>
                  </a:gsLst>
                  <a:lin ang="0"/>
                </a:gradFill>
                <a:latin typeface="Agrandir"/>
                <a:ea typeface="Agrandir"/>
                <a:cs typeface="Agrandir"/>
                <a:sym typeface="Agrandir"/>
              </a:rPr>
              <a:t>Datasets &amp; </a:t>
            </a:r>
          </a:p>
          <a:p>
            <a:pPr algn="l">
              <a:lnSpc>
                <a:spcPts val="9709"/>
              </a:lnSpc>
              <a:spcBef>
                <a:spcPct val="0"/>
              </a:spcBef>
            </a:pPr>
          </a:p>
        </p:txBody>
      </p:sp>
      <p:sp>
        <p:nvSpPr>
          <p:cNvPr name="Freeform 6" id="6"/>
          <p:cNvSpPr/>
          <p:nvPr/>
        </p:nvSpPr>
        <p:spPr>
          <a:xfrm flipH="true" flipV="false" rot="0">
            <a:off x="9753785" y="1907336"/>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0316430" y="1887615"/>
            <a:ext cx="5686495" cy="1220470"/>
          </a:xfrm>
          <a:prstGeom prst="rect">
            <a:avLst/>
          </a:prstGeom>
        </p:spPr>
        <p:txBody>
          <a:bodyPr anchor="t" rtlCol="false" tIns="0" lIns="0" bIns="0" rIns="0">
            <a:spAutoFit/>
          </a:bodyPr>
          <a:lstStyle/>
          <a:p>
            <a:pPr algn="l">
              <a:lnSpc>
                <a:spcPts val="3079"/>
              </a:lnSpc>
            </a:pPr>
            <a:r>
              <a:rPr lang="en-US" sz="2199">
                <a:solidFill>
                  <a:srgbClr val="FF751F"/>
                </a:solidFill>
                <a:latin typeface="Agrandir"/>
                <a:ea typeface="Agrandir"/>
                <a:cs typeface="Agrandir"/>
                <a:sym typeface="Agrandir"/>
              </a:rPr>
              <a:t>Dataset Mode</a:t>
            </a:r>
          </a:p>
          <a:p>
            <a:pPr algn="l">
              <a:lnSpc>
                <a:spcPts val="3079"/>
              </a:lnSpc>
            </a:pPr>
          </a:p>
          <a:p>
            <a:pPr algn="l">
              <a:lnSpc>
                <a:spcPts val="3079"/>
              </a:lnSpc>
              <a:spcBef>
                <a:spcPct val="0"/>
              </a:spcBef>
            </a:pPr>
          </a:p>
        </p:txBody>
      </p:sp>
      <p:sp>
        <p:nvSpPr>
          <p:cNvPr name="TextBox 8" id="8"/>
          <p:cNvSpPr txBox="true"/>
          <p:nvPr/>
        </p:nvSpPr>
        <p:spPr>
          <a:xfrm rot="0">
            <a:off x="10316430" y="2215108"/>
            <a:ext cx="7754432" cy="2377275"/>
          </a:xfrm>
          <a:prstGeom prst="rect">
            <a:avLst/>
          </a:prstGeom>
        </p:spPr>
        <p:txBody>
          <a:bodyPr anchor="t" rtlCol="false" tIns="0" lIns="0" bIns="0" rIns="0">
            <a:spAutoFit/>
          </a:bodyPr>
          <a:lstStyle/>
          <a:p>
            <a:pPr algn="just">
              <a:lnSpc>
                <a:spcPts val="3133"/>
              </a:lnSpc>
            </a:pPr>
          </a:p>
          <a:p>
            <a:pPr algn="just">
              <a:lnSpc>
                <a:spcPts val="3133"/>
              </a:lnSpc>
            </a:pPr>
            <a:r>
              <a:rPr lang="en-US" sz="2238">
                <a:solidFill>
                  <a:srgbClr val="FFFFFF"/>
                </a:solidFill>
                <a:latin typeface="Agrandir"/>
                <a:ea typeface="Agrandir"/>
                <a:cs typeface="Agrandir"/>
                <a:sym typeface="Agrandir"/>
              </a:rPr>
              <a:t>Automated batch testing on standardized benchmarks:</a:t>
            </a:r>
          </a:p>
          <a:p>
            <a:pPr algn="just" marL="483230" indent="-241615" lvl="1">
              <a:lnSpc>
                <a:spcPts val="3133"/>
              </a:lnSpc>
              <a:buFont typeface="Arial"/>
              <a:buChar char="•"/>
            </a:pPr>
            <a:r>
              <a:rPr lang="en-US" sz="2238">
                <a:solidFill>
                  <a:srgbClr val="FFFFFF"/>
                </a:solidFill>
                <a:latin typeface="Agrandir"/>
                <a:ea typeface="Agrandir"/>
                <a:cs typeface="Agrandir"/>
                <a:sym typeface="Agrandir"/>
              </a:rPr>
              <a:t>SST-2 for sentiment analysis</a:t>
            </a:r>
          </a:p>
          <a:p>
            <a:pPr algn="just" marL="483230" indent="-241615" lvl="1">
              <a:lnSpc>
                <a:spcPts val="3133"/>
              </a:lnSpc>
              <a:buFont typeface="Arial"/>
              <a:buChar char="•"/>
            </a:pPr>
            <a:r>
              <a:rPr lang="en-US" sz="2238">
                <a:solidFill>
                  <a:srgbClr val="FFFFFF"/>
                </a:solidFill>
                <a:latin typeface="Agrandir"/>
                <a:ea typeface="Agrandir"/>
                <a:cs typeface="Agrandir"/>
                <a:sym typeface="Agrandir"/>
              </a:rPr>
              <a:t>MMLU for general knowledge</a:t>
            </a:r>
          </a:p>
          <a:p>
            <a:pPr algn="just" marL="483230" indent="-241615" lvl="1">
              <a:lnSpc>
                <a:spcPts val="3133"/>
              </a:lnSpc>
              <a:buFont typeface="Arial"/>
              <a:buChar char="•"/>
            </a:pPr>
            <a:r>
              <a:rPr lang="en-US" sz="2238">
                <a:solidFill>
                  <a:srgbClr val="FFFFFF"/>
                </a:solidFill>
                <a:latin typeface="Agrandir"/>
                <a:ea typeface="Agrandir"/>
                <a:cs typeface="Agrandir"/>
                <a:sym typeface="Agrandir"/>
              </a:rPr>
              <a:t>GSM8K for mathematical reasoning</a:t>
            </a:r>
          </a:p>
          <a:p>
            <a:pPr algn="just">
              <a:lnSpc>
                <a:spcPts val="3133"/>
              </a:lnSpc>
              <a:spcBef>
                <a:spcPct val="0"/>
              </a:spcBef>
            </a:pPr>
          </a:p>
        </p:txBody>
      </p:sp>
      <p:sp>
        <p:nvSpPr>
          <p:cNvPr name="Freeform 9" id="9"/>
          <p:cNvSpPr/>
          <p:nvPr/>
        </p:nvSpPr>
        <p:spPr>
          <a:xfrm flipH="true" flipV="false" rot="0">
            <a:off x="9753785" y="4806468"/>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0316430" y="4814837"/>
            <a:ext cx="5686495" cy="1220470"/>
          </a:xfrm>
          <a:prstGeom prst="rect">
            <a:avLst/>
          </a:prstGeom>
        </p:spPr>
        <p:txBody>
          <a:bodyPr anchor="t" rtlCol="false" tIns="0" lIns="0" bIns="0" rIns="0">
            <a:spAutoFit/>
          </a:bodyPr>
          <a:lstStyle/>
          <a:p>
            <a:pPr algn="l">
              <a:lnSpc>
                <a:spcPts val="3079"/>
              </a:lnSpc>
            </a:pPr>
            <a:r>
              <a:rPr lang="en-US" sz="2199">
                <a:solidFill>
                  <a:srgbClr val="FF751F"/>
                </a:solidFill>
                <a:latin typeface="Agrandir"/>
                <a:ea typeface="Agrandir"/>
                <a:cs typeface="Agrandir"/>
                <a:sym typeface="Agrandir"/>
              </a:rPr>
              <a:t>Custom Mode</a:t>
            </a:r>
          </a:p>
          <a:p>
            <a:pPr algn="l">
              <a:lnSpc>
                <a:spcPts val="3079"/>
              </a:lnSpc>
            </a:pPr>
          </a:p>
          <a:p>
            <a:pPr algn="l">
              <a:lnSpc>
                <a:spcPts val="3079"/>
              </a:lnSpc>
              <a:spcBef>
                <a:spcPct val="0"/>
              </a:spcBef>
            </a:pPr>
          </a:p>
        </p:txBody>
      </p:sp>
      <p:sp>
        <p:nvSpPr>
          <p:cNvPr name="TextBox 11" id="11"/>
          <p:cNvSpPr txBox="true"/>
          <p:nvPr/>
        </p:nvSpPr>
        <p:spPr>
          <a:xfrm rot="0">
            <a:off x="10316430" y="5123765"/>
            <a:ext cx="7594472" cy="2567879"/>
          </a:xfrm>
          <a:prstGeom prst="rect">
            <a:avLst/>
          </a:prstGeom>
        </p:spPr>
        <p:txBody>
          <a:bodyPr anchor="t" rtlCol="false" tIns="0" lIns="0" bIns="0" rIns="0">
            <a:spAutoFit/>
          </a:bodyPr>
          <a:lstStyle/>
          <a:p>
            <a:pPr algn="just">
              <a:lnSpc>
                <a:spcPts val="2912"/>
              </a:lnSpc>
            </a:pPr>
          </a:p>
          <a:p>
            <a:pPr algn="just">
              <a:lnSpc>
                <a:spcPts val="2912"/>
              </a:lnSpc>
            </a:pPr>
            <a:r>
              <a:rPr lang="en-US" sz="2080">
                <a:solidFill>
                  <a:srgbClr val="FFFFFF"/>
                </a:solidFill>
                <a:latin typeface="Agrandir"/>
                <a:ea typeface="Agrandir"/>
                <a:cs typeface="Agrandir"/>
                <a:sym typeface="Agrandir"/>
              </a:rPr>
              <a:t>Interactive sandbox where users can input any prompt to see attacked variants side-by-side with original responses.</a:t>
            </a:r>
          </a:p>
          <a:p>
            <a:pPr algn="just" marL="449215" indent="-224608" lvl="1">
              <a:lnSpc>
                <a:spcPts val="2912"/>
              </a:lnSpc>
              <a:buFont typeface="Arial"/>
              <a:buChar char="•"/>
            </a:pPr>
            <a:r>
              <a:rPr lang="en-US" sz="2080">
                <a:solidFill>
                  <a:srgbClr val="FFFFFF"/>
                </a:solidFill>
                <a:latin typeface="Agrandir"/>
                <a:ea typeface="Agrandir"/>
                <a:cs typeface="Agrandir"/>
                <a:sym typeface="Agrandir"/>
              </a:rPr>
              <a:t>Real-time perturbation generation</a:t>
            </a:r>
          </a:p>
          <a:p>
            <a:pPr algn="just" marL="449215" indent="-224608" lvl="1">
              <a:lnSpc>
                <a:spcPts val="2912"/>
              </a:lnSpc>
              <a:buFont typeface="Arial"/>
              <a:buChar char="•"/>
            </a:pPr>
            <a:r>
              <a:rPr lang="en-US" sz="2080">
                <a:solidFill>
                  <a:srgbClr val="FFFFFF"/>
                </a:solidFill>
                <a:latin typeface="Agrandir"/>
                <a:ea typeface="Agrandir"/>
                <a:cs typeface="Agrandir"/>
                <a:sym typeface="Agrandir"/>
              </a:rPr>
              <a:t>Manual prompt specification</a:t>
            </a:r>
          </a:p>
          <a:p>
            <a:pPr algn="just" marL="449215" indent="-224608" lvl="1">
              <a:lnSpc>
                <a:spcPts val="2912"/>
              </a:lnSpc>
              <a:buFont typeface="Arial"/>
              <a:buChar char="•"/>
            </a:pPr>
            <a:r>
              <a:rPr lang="en-US" sz="2080">
                <a:solidFill>
                  <a:srgbClr val="FFFFFF"/>
                </a:solidFill>
                <a:latin typeface="Agrandir"/>
                <a:ea typeface="Agrandir"/>
                <a:cs typeface="Agrandir"/>
                <a:sym typeface="Agrandir"/>
              </a:rPr>
              <a:t>Comparative analysis view</a:t>
            </a:r>
          </a:p>
          <a:p>
            <a:pPr algn="just">
              <a:lnSpc>
                <a:spcPts val="2912"/>
              </a:lnSpc>
              <a:spcBef>
                <a:spcPct val="0"/>
              </a:spcBef>
            </a:pPr>
          </a:p>
        </p:txBody>
      </p:sp>
      <p:sp>
        <p:nvSpPr>
          <p:cNvPr name="TextBox 12" id="12"/>
          <p:cNvSpPr txBox="true"/>
          <p:nvPr/>
        </p:nvSpPr>
        <p:spPr>
          <a:xfrm rot="0">
            <a:off x="4387834" y="1083887"/>
            <a:ext cx="4509100" cy="5062598"/>
          </a:xfrm>
          <a:prstGeom prst="rect">
            <a:avLst/>
          </a:prstGeom>
        </p:spPr>
        <p:txBody>
          <a:bodyPr anchor="t" rtlCol="false" tIns="0" lIns="0" bIns="0" rIns="0">
            <a:spAutoFit/>
          </a:bodyPr>
          <a:lstStyle/>
          <a:p>
            <a:pPr algn="l">
              <a:lnSpc>
                <a:spcPts val="9709"/>
              </a:lnSpc>
            </a:pPr>
            <a:r>
              <a:rPr lang="en-US" sz="6935" b="true">
                <a:solidFill>
                  <a:srgbClr val="FFA800"/>
                </a:solidFill>
                <a:latin typeface="Agrandir Bold"/>
                <a:ea typeface="Agrandir Bold"/>
                <a:cs typeface="Agrandir Bold"/>
                <a:sym typeface="Agrandir Bold"/>
              </a:rPr>
              <a:t> </a:t>
            </a:r>
            <a:r>
              <a:rPr lang="en-US" sz="6935" b="true">
                <a:gradFill>
                  <a:gsLst>
                    <a:gs pos="0">
                      <a:srgbClr val="FF3131">
                        <a:alpha val="100000"/>
                      </a:srgbClr>
                    </a:gs>
                    <a:gs pos="100000">
                      <a:srgbClr val="FF914D">
                        <a:alpha val="100000"/>
                      </a:srgbClr>
                    </a:gs>
                  </a:gsLst>
                  <a:lin ang="0"/>
                </a:gradFill>
                <a:latin typeface="Agrandir Bold"/>
                <a:ea typeface="Agrandir Bold"/>
                <a:cs typeface="Agrandir Bold"/>
                <a:sym typeface="Agrandir Bold"/>
              </a:rPr>
              <a:t>Evaluation Modes</a:t>
            </a:r>
          </a:p>
          <a:p>
            <a:pPr algn="l">
              <a:lnSpc>
                <a:spcPts val="9709"/>
              </a:lnSpc>
              <a:spcBef>
                <a:spcPct val="0"/>
              </a:spcBef>
            </a:pPr>
          </a:p>
        </p:txBody>
      </p:sp>
    </p:spTree>
  </p:cSld>
  <p:clrMapOvr>
    <a:masterClrMapping/>
  </p:clrMapOvr>
  <p:transition spd="fast">
    <p:cover dir="d"/>
  </p:transition>
</p:sld>
</file>

<file path=ppt/slides/slide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4333313" y="1939021"/>
            <a:ext cx="7219353" cy="821007"/>
          </a:xfrm>
          <a:prstGeom prst="rect">
            <a:avLst/>
          </a:prstGeom>
        </p:spPr>
        <p:txBody>
          <a:bodyPr anchor="t" rtlCol="false" tIns="0" lIns="0" bIns="0" rIns="0">
            <a:spAutoFit/>
          </a:bodyPr>
          <a:lstStyle/>
          <a:p>
            <a:pPr algn="l">
              <a:lnSpc>
                <a:spcPts val="6157"/>
              </a:lnSpc>
            </a:pPr>
            <a:r>
              <a:rPr lang="en-US" sz="6157">
                <a:solidFill>
                  <a:srgbClr val="FFD49B"/>
                </a:solidFill>
                <a:latin typeface="Pattanakarn Expanded"/>
                <a:ea typeface="Pattanakarn Expanded"/>
                <a:cs typeface="Pattanakarn Expanded"/>
                <a:sym typeface="Pattanakarn Expanded"/>
              </a:rPr>
              <a:t>KEY</a:t>
            </a:r>
          </a:p>
        </p:txBody>
      </p:sp>
      <p:sp>
        <p:nvSpPr>
          <p:cNvPr name="TextBox 3" id="3"/>
          <p:cNvSpPr txBox="true"/>
          <p:nvPr/>
        </p:nvSpPr>
        <p:spPr>
          <a:xfrm rot="0">
            <a:off x="4333313" y="2874327"/>
            <a:ext cx="7219353" cy="1604193"/>
          </a:xfrm>
          <a:prstGeom prst="rect">
            <a:avLst/>
          </a:prstGeom>
        </p:spPr>
        <p:txBody>
          <a:bodyPr anchor="t" rtlCol="false" tIns="0" lIns="0" bIns="0" rIns="0">
            <a:spAutoFit/>
          </a:bodyPr>
          <a:lstStyle/>
          <a:p>
            <a:pPr algn="l">
              <a:lnSpc>
                <a:spcPts val="6157"/>
              </a:lnSpc>
            </a:pPr>
            <a:r>
              <a:rPr lang="en-US" b="true" sz="6157">
                <a:gradFill>
                  <a:gsLst>
                    <a:gs pos="0">
                      <a:srgbClr val="FF3131">
                        <a:alpha val="100000"/>
                      </a:srgbClr>
                    </a:gs>
                    <a:gs pos="100000">
                      <a:srgbClr val="FF914D">
                        <a:alpha val="100000"/>
                      </a:srgbClr>
                    </a:gs>
                  </a:gsLst>
                  <a:lin ang="0"/>
                </a:gradFill>
                <a:latin typeface="Pattanakarn Expanded Bold"/>
                <a:ea typeface="Pattanakarn Expanded Bold"/>
                <a:cs typeface="Pattanakarn Expanded Bold"/>
                <a:sym typeface="Pattanakarn Expanded Bold"/>
              </a:rPr>
              <a:t>METRICS</a:t>
            </a:r>
          </a:p>
          <a:p>
            <a:pPr algn="l">
              <a:lnSpc>
                <a:spcPts val="6157"/>
              </a:lnSpc>
            </a:pPr>
          </a:p>
        </p:txBody>
      </p:sp>
      <p:grpSp>
        <p:nvGrpSpPr>
          <p:cNvPr name="Group 4" id="4"/>
          <p:cNvGrpSpPr/>
          <p:nvPr/>
        </p:nvGrpSpPr>
        <p:grpSpPr>
          <a:xfrm rot="0">
            <a:off x="1786116" y="4612969"/>
            <a:ext cx="13630702" cy="4390882"/>
            <a:chOff x="0" y="0"/>
            <a:chExt cx="3589979" cy="1156446"/>
          </a:xfrm>
        </p:grpSpPr>
        <p:sp>
          <p:nvSpPr>
            <p:cNvPr name="Freeform 5" id="5"/>
            <p:cNvSpPr/>
            <p:nvPr/>
          </p:nvSpPr>
          <p:spPr>
            <a:xfrm flipH="false" flipV="false" rot="0">
              <a:off x="0" y="0"/>
              <a:ext cx="3589979" cy="1156446"/>
            </a:xfrm>
            <a:custGeom>
              <a:avLst/>
              <a:gdLst/>
              <a:ahLst/>
              <a:cxnLst/>
              <a:rect r="r" b="b" t="t" l="l"/>
              <a:pathLst>
                <a:path h="1156446" w="3589979">
                  <a:moveTo>
                    <a:pt x="28399" y="0"/>
                  </a:moveTo>
                  <a:lnTo>
                    <a:pt x="3561581" y="0"/>
                  </a:lnTo>
                  <a:cubicBezTo>
                    <a:pt x="3569112" y="0"/>
                    <a:pt x="3576336" y="2992"/>
                    <a:pt x="3581662" y="8318"/>
                  </a:cubicBezTo>
                  <a:cubicBezTo>
                    <a:pt x="3586987" y="13644"/>
                    <a:pt x="3589979" y="20867"/>
                    <a:pt x="3589979" y="28399"/>
                  </a:cubicBezTo>
                  <a:lnTo>
                    <a:pt x="3589979" y="1128048"/>
                  </a:lnTo>
                  <a:cubicBezTo>
                    <a:pt x="3589979" y="1135579"/>
                    <a:pt x="3586987" y="1142803"/>
                    <a:pt x="3581662" y="1148129"/>
                  </a:cubicBezTo>
                  <a:cubicBezTo>
                    <a:pt x="3576336" y="1153454"/>
                    <a:pt x="3569112" y="1156446"/>
                    <a:pt x="3561581" y="1156446"/>
                  </a:cubicBezTo>
                  <a:lnTo>
                    <a:pt x="28399" y="1156446"/>
                  </a:lnTo>
                  <a:cubicBezTo>
                    <a:pt x="12715" y="1156446"/>
                    <a:pt x="0" y="1143732"/>
                    <a:pt x="0" y="1128048"/>
                  </a:cubicBezTo>
                  <a:lnTo>
                    <a:pt x="0" y="28399"/>
                  </a:lnTo>
                  <a:cubicBezTo>
                    <a:pt x="0" y="20867"/>
                    <a:pt x="2992" y="13644"/>
                    <a:pt x="8318" y="8318"/>
                  </a:cubicBezTo>
                  <a:cubicBezTo>
                    <a:pt x="13644" y="2992"/>
                    <a:pt x="20867" y="0"/>
                    <a:pt x="28399" y="0"/>
                  </a:cubicBezTo>
                  <a:close/>
                </a:path>
              </a:pathLst>
            </a:custGeom>
            <a:gradFill rotWithShape="true">
              <a:gsLst>
                <a:gs pos="0">
                  <a:srgbClr val="000000">
                    <a:alpha val="100000"/>
                  </a:srgbClr>
                </a:gs>
                <a:gs pos="100000">
                  <a:srgbClr val="EE581E">
                    <a:alpha val="100000"/>
                  </a:srgbClr>
                </a:gs>
              </a:gsLst>
              <a:lin ang="5400000"/>
            </a:gradFill>
            <a:ln w="9525" cap="rnd">
              <a:solidFill>
                <a:srgbClr val="FFD49B"/>
              </a:solidFill>
              <a:prstDash val="solid"/>
              <a:round/>
            </a:ln>
          </p:spPr>
        </p:sp>
        <p:sp>
          <p:nvSpPr>
            <p:cNvPr name="TextBox 6" id="6"/>
            <p:cNvSpPr txBox="true"/>
            <p:nvPr/>
          </p:nvSpPr>
          <p:spPr>
            <a:xfrm>
              <a:off x="0" y="-57150"/>
              <a:ext cx="3589979" cy="1213596"/>
            </a:xfrm>
            <a:prstGeom prst="rect">
              <a:avLst/>
            </a:prstGeom>
          </p:spPr>
          <p:txBody>
            <a:bodyPr anchor="ctr" rtlCol="false" tIns="50800" lIns="50800" bIns="50800" rIns="50800"/>
            <a:lstStyle/>
            <a:p>
              <a:pPr algn="ctr">
                <a:lnSpc>
                  <a:spcPts val="1960"/>
                </a:lnSpc>
              </a:pPr>
            </a:p>
          </p:txBody>
        </p:sp>
      </p:grpSp>
      <p:sp>
        <p:nvSpPr>
          <p:cNvPr name="TextBox 7" id="7"/>
          <p:cNvSpPr txBox="true"/>
          <p:nvPr/>
        </p:nvSpPr>
        <p:spPr>
          <a:xfrm rot="0">
            <a:off x="2233581" y="5105400"/>
            <a:ext cx="3882495" cy="1703010"/>
          </a:xfrm>
          <a:prstGeom prst="rect">
            <a:avLst/>
          </a:prstGeom>
        </p:spPr>
        <p:txBody>
          <a:bodyPr anchor="t" rtlCol="false" tIns="0" lIns="0" bIns="0" rIns="0">
            <a:spAutoFit/>
          </a:bodyPr>
          <a:lstStyle/>
          <a:p>
            <a:pPr algn="l">
              <a:lnSpc>
                <a:spcPts val="3336"/>
              </a:lnSpc>
            </a:pPr>
            <a:r>
              <a:rPr lang="en-US" sz="2780" spc="-139" b="true">
                <a:solidFill>
                  <a:srgbClr val="FFFFFF"/>
                </a:solidFill>
                <a:latin typeface="Telegraf Bold"/>
                <a:ea typeface="Telegraf Bold"/>
                <a:cs typeface="Telegraf Bold"/>
                <a:sym typeface="Telegraf Bold"/>
              </a:rPr>
              <a:t>95%</a:t>
            </a:r>
          </a:p>
          <a:p>
            <a:pPr algn="l">
              <a:lnSpc>
                <a:spcPts val="3336"/>
              </a:lnSpc>
            </a:pPr>
          </a:p>
          <a:p>
            <a:pPr algn="l">
              <a:lnSpc>
                <a:spcPts val="3336"/>
              </a:lnSpc>
            </a:pPr>
            <a:r>
              <a:rPr lang="en-US" sz="2780" spc="-139" b="true">
                <a:solidFill>
                  <a:srgbClr val="FFFFFF"/>
                </a:solidFill>
                <a:latin typeface="Telegraf Bold"/>
                <a:ea typeface="Telegraf Bold"/>
                <a:cs typeface="Telegraf Bold"/>
                <a:sym typeface="Telegraf Bold"/>
              </a:rPr>
              <a:t>Clean Accuracy</a:t>
            </a:r>
          </a:p>
          <a:p>
            <a:pPr algn="l">
              <a:lnSpc>
                <a:spcPts val="3336"/>
              </a:lnSpc>
            </a:pPr>
          </a:p>
        </p:txBody>
      </p:sp>
      <p:sp>
        <p:nvSpPr>
          <p:cNvPr name="TextBox 8" id="8"/>
          <p:cNvSpPr txBox="true"/>
          <p:nvPr/>
        </p:nvSpPr>
        <p:spPr>
          <a:xfrm rot="0">
            <a:off x="2233581" y="6568850"/>
            <a:ext cx="2702989" cy="2066540"/>
          </a:xfrm>
          <a:prstGeom prst="rect">
            <a:avLst/>
          </a:prstGeom>
        </p:spPr>
        <p:txBody>
          <a:bodyPr anchor="t" rtlCol="false" tIns="0" lIns="0" bIns="0" rIns="0">
            <a:spAutoFit/>
          </a:bodyPr>
          <a:lstStyle/>
          <a:p>
            <a:pPr algn="l">
              <a:lnSpc>
                <a:spcPts val="2323"/>
              </a:lnSpc>
            </a:pPr>
            <a:r>
              <a:rPr lang="en-US" sz="1935" spc="-96">
                <a:solidFill>
                  <a:srgbClr val="FFFFFF"/>
                </a:solidFill>
                <a:latin typeface="Telegraf"/>
                <a:ea typeface="Telegraf"/>
                <a:cs typeface="Telegraf"/>
                <a:sym typeface="Telegraf"/>
              </a:rPr>
              <a:t>Baseline performance on original, unmodified prompts. Measures standard model capability without adversarial conditions.</a:t>
            </a:r>
          </a:p>
          <a:p>
            <a:pPr algn="l">
              <a:lnSpc>
                <a:spcPts val="2323"/>
              </a:lnSpc>
            </a:pPr>
          </a:p>
        </p:txBody>
      </p:sp>
      <p:sp>
        <p:nvSpPr>
          <p:cNvPr name="TextBox 9" id="9"/>
          <p:cNvSpPr txBox="true"/>
          <p:nvPr/>
        </p:nvSpPr>
        <p:spPr>
          <a:xfrm rot="0">
            <a:off x="11552667" y="5105400"/>
            <a:ext cx="3632249" cy="1595699"/>
          </a:xfrm>
          <a:prstGeom prst="rect">
            <a:avLst/>
          </a:prstGeom>
        </p:spPr>
        <p:txBody>
          <a:bodyPr anchor="t" rtlCol="false" tIns="0" lIns="0" bIns="0" rIns="0">
            <a:spAutoFit/>
          </a:bodyPr>
          <a:lstStyle/>
          <a:p>
            <a:pPr algn="l">
              <a:lnSpc>
                <a:spcPts val="3121"/>
              </a:lnSpc>
            </a:pPr>
            <a:r>
              <a:rPr lang="en-US" sz="2601" spc="-130" b="true">
                <a:solidFill>
                  <a:srgbClr val="FFFFFF"/>
                </a:solidFill>
                <a:latin typeface="Telegraf Bold"/>
                <a:ea typeface="Telegraf Bold"/>
                <a:cs typeface="Telegraf Bold"/>
                <a:sym typeface="Telegraf Bold"/>
              </a:rPr>
              <a:t>76%</a:t>
            </a:r>
          </a:p>
          <a:p>
            <a:pPr algn="l">
              <a:lnSpc>
                <a:spcPts val="3121"/>
              </a:lnSpc>
            </a:pPr>
          </a:p>
          <a:p>
            <a:pPr algn="l">
              <a:lnSpc>
                <a:spcPts val="3121"/>
              </a:lnSpc>
            </a:pPr>
            <a:r>
              <a:rPr lang="en-US" sz="2601" spc="-130" b="true">
                <a:solidFill>
                  <a:srgbClr val="FFFFFF"/>
                </a:solidFill>
                <a:latin typeface="Telegraf Bold"/>
                <a:ea typeface="Telegraf Bold"/>
                <a:cs typeface="Telegraf Bold"/>
                <a:sym typeface="Telegraf Bold"/>
              </a:rPr>
              <a:t>Robustness Score</a:t>
            </a:r>
          </a:p>
          <a:p>
            <a:pPr algn="l">
              <a:lnSpc>
                <a:spcPts val="3121"/>
              </a:lnSpc>
            </a:pPr>
          </a:p>
        </p:txBody>
      </p:sp>
      <p:sp>
        <p:nvSpPr>
          <p:cNvPr name="TextBox 10" id="10"/>
          <p:cNvSpPr txBox="true"/>
          <p:nvPr/>
        </p:nvSpPr>
        <p:spPr>
          <a:xfrm rot="0">
            <a:off x="11552667" y="6554092"/>
            <a:ext cx="2838828" cy="1854615"/>
          </a:xfrm>
          <a:prstGeom prst="rect">
            <a:avLst/>
          </a:prstGeom>
        </p:spPr>
        <p:txBody>
          <a:bodyPr anchor="t" rtlCol="false" tIns="0" lIns="0" bIns="0" rIns="0">
            <a:spAutoFit/>
          </a:bodyPr>
          <a:lstStyle/>
          <a:p>
            <a:pPr algn="l">
              <a:lnSpc>
                <a:spcPts val="2439"/>
              </a:lnSpc>
            </a:pPr>
            <a:r>
              <a:rPr lang="en-US" sz="2033" spc="-101">
                <a:solidFill>
                  <a:srgbClr val="FFFFFF"/>
                </a:solidFill>
                <a:latin typeface="Telegraf"/>
                <a:ea typeface="Telegraf"/>
                <a:cs typeface="Telegraf"/>
                <a:sym typeface="Telegraf"/>
              </a:rPr>
              <a:t>Ratio of (Attacked Acc / Clean Acc). The primary metric representing overall model resilience to prompt manipulation.</a:t>
            </a:r>
          </a:p>
          <a:p>
            <a:pPr algn="l">
              <a:lnSpc>
                <a:spcPts val="2439"/>
              </a:lnSpc>
            </a:pPr>
          </a:p>
        </p:txBody>
      </p:sp>
      <p:sp>
        <p:nvSpPr>
          <p:cNvPr name="TextBox 11" id="11"/>
          <p:cNvSpPr txBox="true"/>
          <p:nvPr/>
        </p:nvSpPr>
        <p:spPr>
          <a:xfrm rot="0">
            <a:off x="6746773" y="5114925"/>
            <a:ext cx="3709388" cy="1221583"/>
          </a:xfrm>
          <a:prstGeom prst="rect">
            <a:avLst/>
          </a:prstGeom>
        </p:spPr>
        <p:txBody>
          <a:bodyPr anchor="t" rtlCol="false" tIns="0" lIns="0" bIns="0" rIns="0">
            <a:spAutoFit/>
          </a:bodyPr>
          <a:lstStyle/>
          <a:p>
            <a:pPr algn="l">
              <a:lnSpc>
                <a:spcPts val="3188"/>
              </a:lnSpc>
            </a:pPr>
            <a:r>
              <a:rPr lang="en-US" sz="2656" spc="-132" b="true">
                <a:solidFill>
                  <a:srgbClr val="FFFFFF"/>
                </a:solidFill>
                <a:latin typeface="Telegraf Bold"/>
                <a:ea typeface="Telegraf Bold"/>
                <a:cs typeface="Telegraf Bold"/>
                <a:sym typeface="Telegraf Bold"/>
              </a:rPr>
              <a:t>72%</a:t>
            </a:r>
          </a:p>
          <a:p>
            <a:pPr algn="l">
              <a:lnSpc>
                <a:spcPts val="3188"/>
              </a:lnSpc>
            </a:pPr>
          </a:p>
          <a:p>
            <a:pPr algn="l">
              <a:lnSpc>
                <a:spcPts val="3188"/>
              </a:lnSpc>
            </a:pPr>
            <a:r>
              <a:rPr lang="en-US" sz="2656" spc="-132" b="true">
                <a:solidFill>
                  <a:srgbClr val="FFFFFF"/>
                </a:solidFill>
                <a:latin typeface="Telegraf Bold"/>
                <a:ea typeface="Telegraf Bold"/>
                <a:cs typeface="Telegraf Bold"/>
                <a:sym typeface="Telegraf Bold"/>
              </a:rPr>
              <a:t>Attacked Accuracy</a:t>
            </a:r>
          </a:p>
        </p:txBody>
      </p:sp>
      <p:sp>
        <p:nvSpPr>
          <p:cNvPr name="TextBox 12" id="12"/>
          <p:cNvSpPr txBox="true"/>
          <p:nvPr/>
        </p:nvSpPr>
        <p:spPr>
          <a:xfrm rot="0">
            <a:off x="6746773" y="6544567"/>
            <a:ext cx="2735347" cy="2090823"/>
          </a:xfrm>
          <a:prstGeom prst="rect">
            <a:avLst/>
          </a:prstGeom>
        </p:spPr>
        <p:txBody>
          <a:bodyPr anchor="t" rtlCol="false" tIns="0" lIns="0" bIns="0" rIns="0">
            <a:spAutoFit/>
          </a:bodyPr>
          <a:lstStyle/>
          <a:p>
            <a:pPr algn="l">
              <a:lnSpc>
                <a:spcPts val="2351"/>
              </a:lnSpc>
            </a:pPr>
            <a:r>
              <a:rPr lang="en-US" sz="1959" spc="-97">
                <a:solidFill>
                  <a:srgbClr val="FFFFFF"/>
                </a:solidFill>
                <a:latin typeface="Telegraf"/>
                <a:ea typeface="Telegraf"/>
                <a:cs typeface="Telegraf"/>
                <a:sym typeface="Telegraf"/>
              </a:rPr>
              <a:t>Performance under adversarial conditions. Shows how well the model maintains functionality when prompts are perturbed.</a:t>
            </a:r>
          </a:p>
          <a:p>
            <a:pPr algn="l">
              <a:lnSpc>
                <a:spcPts val="2351"/>
              </a:lnSpc>
            </a:pPr>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a:gsLst>
            <a:gs pos="0">
              <a:srgbClr val="EE581E">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045387" y="3828715"/>
            <a:ext cx="5344505" cy="4236669"/>
            <a:chOff x="0" y="0"/>
            <a:chExt cx="1407606" cy="1115831"/>
          </a:xfrm>
        </p:grpSpPr>
        <p:sp>
          <p:nvSpPr>
            <p:cNvPr name="Freeform 3" id="3"/>
            <p:cNvSpPr/>
            <p:nvPr/>
          </p:nvSpPr>
          <p:spPr>
            <a:xfrm flipH="false" flipV="false" rot="0">
              <a:off x="0" y="0"/>
              <a:ext cx="1407606" cy="1115831"/>
            </a:xfrm>
            <a:custGeom>
              <a:avLst/>
              <a:gdLst/>
              <a:ahLst/>
              <a:cxnLst/>
              <a:rect r="r" b="b" t="t" l="l"/>
              <a:pathLst>
                <a:path h="1115831" w="1407606">
                  <a:moveTo>
                    <a:pt x="0" y="0"/>
                  </a:moveTo>
                  <a:lnTo>
                    <a:pt x="1407606" y="0"/>
                  </a:lnTo>
                  <a:lnTo>
                    <a:pt x="1407606" y="1115831"/>
                  </a:lnTo>
                  <a:lnTo>
                    <a:pt x="0" y="1115831"/>
                  </a:lnTo>
                  <a:close/>
                </a:path>
              </a:pathLst>
            </a:custGeom>
            <a:solidFill>
              <a:srgbClr val="0B0B0B"/>
            </a:solidFill>
            <a:ln w="19050" cap="sq">
              <a:solidFill>
                <a:srgbClr val="FD922A"/>
              </a:solidFill>
              <a:prstDash val="solid"/>
              <a:miter/>
            </a:ln>
          </p:spPr>
        </p:sp>
        <p:sp>
          <p:nvSpPr>
            <p:cNvPr name="TextBox 4" id="4"/>
            <p:cNvSpPr txBox="true"/>
            <p:nvPr/>
          </p:nvSpPr>
          <p:spPr>
            <a:xfrm>
              <a:off x="0" y="-19050"/>
              <a:ext cx="1407606" cy="1134881"/>
            </a:xfrm>
            <a:prstGeom prst="rect">
              <a:avLst/>
            </a:prstGeom>
          </p:spPr>
          <p:txBody>
            <a:bodyPr anchor="ctr" rtlCol="false" tIns="50800" lIns="50800" bIns="50800" rIns="50800"/>
            <a:lstStyle/>
            <a:p>
              <a:pPr algn="ctr">
                <a:lnSpc>
                  <a:spcPts val="1800"/>
                </a:lnSpc>
              </a:pPr>
            </a:p>
          </p:txBody>
        </p:sp>
      </p:grpSp>
      <p:grpSp>
        <p:nvGrpSpPr>
          <p:cNvPr name="Group 5" id="5"/>
          <p:cNvGrpSpPr/>
          <p:nvPr/>
        </p:nvGrpSpPr>
        <p:grpSpPr>
          <a:xfrm rot="0">
            <a:off x="9840713" y="3758451"/>
            <a:ext cx="4954678" cy="4306933"/>
            <a:chOff x="0" y="0"/>
            <a:chExt cx="1304936" cy="1134336"/>
          </a:xfrm>
        </p:grpSpPr>
        <p:sp>
          <p:nvSpPr>
            <p:cNvPr name="Freeform 6" id="6"/>
            <p:cNvSpPr/>
            <p:nvPr/>
          </p:nvSpPr>
          <p:spPr>
            <a:xfrm flipH="false" flipV="false" rot="0">
              <a:off x="0" y="0"/>
              <a:ext cx="1304936" cy="1134336"/>
            </a:xfrm>
            <a:custGeom>
              <a:avLst/>
              <a:gdLst/>
              <a:ahLst/>
              <a:cxnLst/>
              <a:rect r="r" b="b" t="t" l="l"/>
              <a:pathLst>
                <a:path h="1134336" w="1304936">
                  <a:moveTo>
                    <a:pt x="0" y="0"/>
                  </a:moveTo>
                  <a:lnTo>
                    <a:pt x="1304936" y="0"/>
                  </a:lnTo>
                  <a:lnTo>
                    <a:pt x="1304936" y="1134336"/>
                  </a:lnTo>
                  <a:lnTo>
                    <a:pt x="0" y="1134336"/>
                  </a:lnTo>
                  <a:close/>
                </a:path>
              </a:pathLst>
            </a:custGeom>
            <a:solidFill>
              <a:srgbClr val="0B0B0B"/>
            </a:solidFill>
            <a:ln w="19050" cap="sq">
              <a:solidFill>
                <a:srgbClr val="FD922A"/>
              </a:solidFill>
              <a:prstDash val="solid"/>
              <a:miter/>
            </a:ln>
          </p:spPr>
        </p:sp>
        <p:sp>
          <p:nvSpPr>
            <p:cNvPr name="TextBox 7" id="7"/>
            <p:cNvSpPr txBox="true"/>
            <p:nvPr/>
          </p:nvSpPr>
          <p:spPr>
            <a:xfrm>
              <a:off x="0" y="-19050"/>
              <a:ext cx="1304936" cy="1153386"/>
            </a:xfrm>
            <a:prstGeom prst="rect">
              <a:avLst/>
            </a:prstGeom>
          </p:spPr>
          <p:txBody>
            <a:bodyPr anchor="ctr" rtlCol="false" tIns="50800" lIns="50800" bIns="50800" rIns="50800"/>
            <a:lstStyle/>
            <a:p>
              <a:pPr algn="ctr">
                <a:lnSpc>
                  <a:spcPts val="1800"/>
                </a:lnSpc>
              </a:pPr>
            </a:p>
          </p:txBody>
        </p:sp>
      </p:grpSp>
      <p:sp>
        <p:nvSpPr>
          <p:cNvPr name="TextBox 8" id="8"/>
          <p:cNvSpPr txBox="true"/>
          <p:nvPr/>
        </p:nvSpPr>
        <p:spPr>
          <a:xfrm rot="0">
            <a:off x="5460660" y="1479042"/>
            <a:ext cx="7366681" cy="2107959"/>
          </a:xfrm>
          <a:prstGeom prst="rect">
            <a:avLst/>
          </a:prstGeom>
        </p:spPr>
        <p:txBody>
          <a:bodyPr anchor="t" rtlCol="false" tIns="0" lIns="0" bIns="0" rIns="0">
            <a:spAutoFit/>
          </a:bodyPr>
          <a:lstStyle/>
          <a:p>
            <a:pPr algn="l">
              <a:lnSpc>
                <a:spcPts val="8471"/>
              </a:lnSpc>
            </a:pPr>
            <a:r>
              <a:rPr lang="en-US" sz="6051">
                <a:solidFill>
                  <a:srgbClr val="FFFFFF"/>
                </a:solidFill>
                <a:latin typeface="Anton"/>
                <a:ea typeface="Anton"/>
                <a:cs typeface="Anton"/>
                <a:sym typeface="Anton"/>
              </a:rPr>
              <a:t>The PRB Dashboard</a:t>
            </a:r>
          </a:p>
          <a:p>
            <a:pPr algn="l">
              <a:lnSpc>
                <a:spcPts val="8471"/>
              </a:lnSpc>
              <a:spcBef>
                <a:spcPct val="0"/>
              </a:spcBef>
            </a:pPr>
          </a:p>
        </p:txBody>
      </p:sp>
      <p:sp>
        <p:nvSpPr>
          <p:cNvPr name="TextBox 9" id="9"/>
          <p:cNvSpPr txBox="true"/>
          <p:nvPr/>
        </p:nvSpPr>
        <p:spPr>
          <a:xfrm rot="0">
            <a:off x="3267991" y="4011595"/>
            <a:ext cx="2979808" cy="941070"/>
          </a:xfrm>
          <a:prstGeom prst="rect">
            <a:avLst/>
          </a:prstGeom>
        </p:spPr>
        <p:txBody>
          <a:bodyPr anchor="t" rtlCol="false" tIns="0" lIns="0" bIns="0" rIns="0">
            <a:spAutoFit/>
          </a:bodyPr>
          <a:lstStyle/>
          <a:p>
            <a:pPr algn="l">
              <a:lnSpc>
                <a:spcPts val="3779"/>
              </a:lnSpc>
            </a:pPr>
            <a:r>
              <a:rPr lang="en-US" sz="2700" b="true">
                <a:solidFill>
                  <a:srgbClr val="FD922A"/>
                </a:solidFill>
                <a:latin typeface="Work Sans Bold"/>
                <a:ea typeface="Work Sans Bold"/>
                <a:cs typeface="Work Sans Bold"/>
                <a:sym typeface="Work Sans Bold"/>
              </a:rPr>
              <a:t>Visual Features</a:t>
            </a:r>
          </a:p>
          <a:p>
            <a:pPr algn="l">
              <a:lnSpc>
                <a:spcPts val="3779"/>
              </a:lnSpc>
              <a:spcBef>
                <a:spcPct val="0"/>
              </a:spcBef>
            </a:pPr>
          </a:p>
        </p:txBody>
      </p:sp>
      <p:sp>
        <p:nvSpPr>
          <p:cNvPr name="TextBox 10" id="10"/>
          <p:cNvSpPr txBox="true"/>
          <p:nvPr/>
        </p:nvSpPr>
        <p:spPr>
          <a:xfrm rot="0">
            <a:off x="2213252" y="4836188"/>
            <a:ext cx="5056359" cy="2787856"/>
          </a:xfrm>
          <a:prstGeom prst="rect">
            <a:avLst/>
          </a:prstGeom>
        </p:spPr>
        <p:txBody>
          <a:bodyPr anchor="t" rtlCol="false" tIns="0" lIns="0" bIns="0" rIns="0">
            <a:spAutoFit/>
          </a:bodyPr>
          <a:lstStyle/>
          <a:p>
            <a:pPr algn="l" marL="423490" indent="-211745" lvl="1">
              <a:lnSpc>
                <a:spcPts val="2746"/>
              </a:lnSpc>
              <a:spcBef>
                <a:spcPct val="0"/>
              </a:spcBef>
              <a:buFont typeface="Arial"/>
              <a:buChar char="•"/>
            </a:pPr>
            <a:r>
              <a:rPr lang="en-US" sz="1961">
                <a:solidFill>
                  <a:srgbClr val="FFFFFF"/>
                </a:solidFill>
                <a:latin typeface="Work Sans"/>
                <a:ea typeface="Work Sans"/>
                <a:cs typeface="Work Sans"/>
                <a:sym typeface="Work Sans"/>
              </a:rPr>
              <a:t>R</a:t>
            </a:r>
            <a:r>
              <a:rPr lang="en-US" sz="1961">
                <a:solidFill>
                  <a:srgbClr val="FFFFFF"/>
                </a:solidFill>
                <a:latin typeface="Work Sans"/>
                <a:ea typeface="Work Sans"/>
                <a:cs typeface="Work Sans"/>
                <a:sym typeface="Work Sans"/>
              </a:rPr>
              <a:t>eal-time color-coded robustness matrix</a:t>
            </a:r>
          </a:p>
          <a:p>
            <a:pPr algn="l" marL="423490" indent="-211745" lvl="1">
              <a:lnSpc>
                <a:spcPts val="2746"/>
              </a:lnSpc>
              <a:spcBef>
                <a:spcPct val="0"/>
              </a:spcBef>
              <a:buFont typeface="Arial"/>
              <a:buChar char="•"/>
            </a:pPr>
            <a:r>
              <a:rPr lang="en-US" sz="1961">
                <a:solidFill>
                  <a:srgbClr val="FFFFFF"/>
                </a:solidFill>
                <a:latin typeface="Work Sans"/>
                <a:ea typeface="Work Sans"/>
                <a:cs typeface="Work Sans"/>
                <a:sym typeface="Work Sans"/>
              </a:rPr>
              <a:t>Dynamic resiliency rankings across models</a:t>
            </a:r>
          </a:p>
          <a:p>
            <a:pPr algn="l" marL="423490" indent="-211745" lvl="1">
              <a:lnSpc>
                <a:spcPts val="2746"/>
              </a:lnSpc>
              <a:spcBef>
                <a:spcPct val="0"/>
              </a:spcBef>
              <a:buFont typeface="Arial"/>
              <a:buChar char="•"/>
            </a:pPr>
            <a:r>
              <a:rPr lang="en-US" sz="1961">
                <a:solidFill>
                  <a:srgbClr val="FFFFFF"/>
                </a:solidFill>
                <a:latin typeface="Work Sans"/>
                <a:ea typeface="Work Sans"/>
                <a:cs typeface="Work Sans"/>
                <a:sym typeface="Work Sans"/>
              </a:rPr>
              <a:t>Live "Run Log" terminal showing attack progress</a:t>
            </a:r>
          </a:p>
          <a:p>
            <a:pPr algn="l" marL="423490" indent="-211745" lvl="1">
              <a:lnSpc>
                <a:spcPts val="2746"/>
              </a:lnSpc>
              <a:spcBef>
                <a:spcPct val="0"/>
              </a:spcBef>
              <a:buFont typeface="Arial"/>
              <a:buChar char="•"/>
            </a:pPr>
            <a:r>
              <a:rPr lang="en-US" sz="1961">
                <a:solidFill>
                  <a:srgbClr val="FFFFFF"/>
                </a:solidFill>
                <a:latin typeface="Work Sans"/>
                <a:ea typeface="Work Sans"/>
                <a:cs typeface="Work Sans"/>
                <a:sym typeface="Work Sans"/>
              </a:rPr>
              <a:t>Interactive result exploration</a:t>
            </a:r>
          </a:p>
          <a:p>
            <a:pPr algn="l">
              <a:lnSpc>
                <a:spcPts val="2746"/>
              </a:lnSpc>
              <a:spcBef>
                <a:spcPct val="0"/>
              </a:spcBef>
            </a:pPr>
          </a:p>
        </p:txBody>
      </p:sp>
      <p:sp>
        <p:nvSpPr>
          <p:cNvPr name="TextBox 11" id="11"/>
          <p:cNvSpPr txBox="true"/>
          <p:nvPr/>
        </p:nvSpPr>
        <p:spPr>
          <a:xfrm rot="0">
            <a:off x="10828148" y="3942743"/>
            <a:ext cx="2979808" cy="941070"/>
          </a:xfrm>
          <a:prstGeom prst="rect">
            <a:avLst/>
          </a:prstGeom>
        </p:spPr>
        <p:txBody>
          <a:bodyPr anchor="t" rtlCol="false" tIns="0" lIns="0" bIns="0" rIns="0">
            <a:spAutoFit/>
          </a:bodyPr>
          <a:lstStyle/>
          <a:p>
            <a:pPr algn="l">
              <a:lnSpc>
                <a:spcPts val="3779"/>
              </a:lnSpc>
              <a:spcBef>
                <a:spcPct val="0"/>
              </a:spcBef>
            </a:pPr>
            <a:r>
              <a:rPr lang="en-US" b="true" sz="2700">
                <a:solidFill>
                  <a:srgbClr val="FD922A"/>
                </a:solidFill>
                <a:latin typeface="Work Sans Bold"/>
                <a:ea typeface="Work Sans Bold"/>
                <a:cs typeface="Work Sans Bold"/>
                <a:sym typeface="Work Sans Bold"/>
              </a:rPr>
              <a:t>Data</a:t>
            </a:r>
            <a:r>
              <a:rPr lang="en-US" b="true" sz="2700">
                <a:solidFill>
                  <a:srgbClr val="FD922A"/>
                </a:solidFill>
                <a:latin typeface="Work Sans Bold"/>
                <a:ea typeface="Work Sans Bold"/>
                <a:cs typeface="Work Sans Bold"/>
                <a:sym typeface="Work Sans Bold"/>
              </a:rPr>
              <a:t> Integration</a:t>
            </a:r>
          </a:p>
          <a:p>
            <a:pPr algn="l">
              <a:lnSpc>
                <a:spcPts val="3779"/>
              </a:lnSpc>
              <a:spcBef>
                <a:spcPct val="0"/>
              </a:spcBef>
            </a:pPr>
          </a:p>
        </p:txBody>
      </p:sp>
      <p:sp>
        <p:nvSpPr>
          <p:cNvPr name="TextBox 12" id="12"/>
          <p:cNvSpPr txBox="true"/>
          <p:nvPr/>
        </p:nvSpPr>
        <p:spPr>
          <a:xfrm rot="0">
            <a:off x="10349232" y="5010566"/>
            <a:ext cx="4197525" cy="2439100"/>
          </a:xfrm>
          <a:prstGeom prst="rect">
            <a:avLst/>
          </a:prstGeom>
        </p:spPr>
        <p:txBody>
          <a:bodyPr anchor="t" rtlCol="false" tIns="0" lIns="0" bIns="0" rIns="0">
            <a:spAutoFit/>
          </a:bodyPr>
          <a:lstStyle/>
          <a:p>
            <a:pPr algn="l">
              <a:lnSpc>
                <a:spcPts val="2746"/>
              </a:lnSpc>
              <a:spcBef>
                <a:spcPct val="0"/>
              </a:spcBef>
            </a:pPr>
            <a:r>
              <a:rPr lang="en-US" sz="1961">
                <a:solidFill>
                  <a:srgbClr val="FFFFFF"/>
                </a:solidFill>
                <a:latin typeface="Work Sans"/>
                <a:ea typeface="Work Sans"/>
                <a:cs typeface="Work Sans"/>
                <a:sym typeface="Work Sans"/>
              </a:rPr>
              <a:t>Th</a:t>
            </a:r>
            <a:r>
              <a:rPr lang="en-US" sz="1961">
                <a:solidFill>
                  <a:srgbClr val="FFFFFF"/>
                </a:solidFill>
                <a:latin typeface="Work Sans"/>
                <a:ea typeface="Work Sans"/>
                <a:cs typeface="Work Sans"/>
                <a:sym typeface="Work Sans"/>
              </a:rPr>
              <a:t>e dashboard updates automatically by reading results.csv generated by the backend, ensuring real-time synchronization between computation and visualization.</a:t>
            </a:r>
          </a:p>
          <a:p>
            <a:pPr algn="l">
              <a:lnSpc>
                <a:spcPts val="2746"/>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E581E">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008620" y="9841489"/>
            <a:ext cx="1714493" cy="7976552"/>
            <a:chOff x="0" y="0"/>
            <a:chExt cx="451554" cy="2100820"/>
          </a:xfrm>
        </p:grpSpPr>
        <p:sp>
          <p:nvSpPr>
            <p:cNvPr name="Freeform 3" id="3"/>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4" id="4"/>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5" id="5"/>
          <p:cNvGrpSpPr/>
          <p:nvPr/>
        </p:nvGrpSpPr>
        <p:grpSpPr>
          <a:xfrm rot="0">
            <a:off x="4507533" y="9068100"/>
            <a:ext cx="1714493" cy="7976552"/>
            <a:chOff x="0" y="0"/>
            <a:chExt cx="451554" cy="2100820"/>
          </a:xfrm>
        </p:grpSpPr>
        <p:sp>
          <p:nvSpPr>
            <p:cNvPr name="Freeform 6" id="6"/>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7" id="7"/>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8" id="8"/>
          <p:cNvGrpSpPr/>
          <p:nvPr/>
        </p:nvGrpSpPr>
        <p:grpSpPr>
          <a:xfrm rot="0">
            <a:off x="6076222" y="8572708"/>
            <a:ext cx="1714493" cy="7976552"/>
            <a:chOff x="0" y="0"/>
            <a:chExt cx="451554" cy="2100820"/>
          </a:xfrm>
        </p:grpSpPr>
        <p:sp>
          <p:nvSpPr>
            <p:cNvPr name="Freeform 9" id="9"/>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0" id="10"/>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1" id="11"/>
          <p:cNvGrpSpPr/>
          <p:nvPr/>
        </p:nvGrpSpPr>
        <p:grpSpPr>
          <a:xfrm rot="0">
            <a:off x="7575135" y="7799320"/>
            <a:ext cx="1714493" cy="7976552"/>
            <a:chOff x="0" y="0"/>
            <a:chExt cx="451554" cy="2100820"/>
          </a:xfrm>
        </p:grpSpPr>
        <p:sp>
          <p:nvSpPr>
            <p:cNvPr name="Freeform 12" id="12"/>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3" id="13"/>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4" id="14"/>
          <p:cNvGrpSpPr/>
          <p:nvPr/>
        </p:nvGrpSpPr>
        <p:grpSpPr>
          <a:xfrm rot="0">
            <a:off x="9074048" y="7025931"/>
            <a:ext cx="1714493" cy="7976552"/>
            <a:chOff x="0" y="0"/>
            <a:chExt cx="451554" cy="2100820"/>
          </a:xfrm>
        </p:grpSpPr>
        <p:sp>
          <p:nvSpPr>
            <p:cNvPr name="Freeform 15" id="15"/>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6" id="16"/>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7" id="17"/>
          <p:cNvGrpSpPr/>
          <p:nvPr/>
        </p:nvGrpSpPr>
        <p:grpSpPr>
          <a:xfrm rot="0">
            <a:off x="10577855" y="6118995"/>
            <a:ext cx="1714493" cy="7976552"/>
            <a:chOff x="0" y="0"/>
            <a:chExt cx="451554" cy="2100820"/>
          </a:xfrm>
        </p:grpSpPr>
        <p:sp>
          <p:nvSpPr>
            <p:cNvPr name="Freeform 18" id="18"/>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9" id="19"/>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0" id="20"/>
          <p:cNvGrpSpPr/>
          <p:nvPr/>
        </p:nvGrpSpPr>
        <p:grpSpPr>
          <a:xfrm rot="0">
            <a:off x="12076768" y="5345606"/>
            <a:ext cx="1714493" cy="7976552"/>
            <a:chOff x="0" y="0"/>
            <a:chExt cx="451554" cy="2100820"/>
          </a:xfrm>
        </p:grpSpPr>
        <p:sp>
          <p:nvSpPr>
            <p:cNvPr name="Freeform 21" id="21"/>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2" id="22"/>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3" id="23"/>
          <p:cNvGrpSpPr/>
          <p:nvPr/>
        </p:nvGrpSpPr>
        <p:grpSpPr>
          <a:xfrm rot="0">
            <a:off x="13575681" y="4572218"/>
            <a:ext cx="1714493" cy="7976552"/>
            <a:chOff x="0" y="0"/>
            <a:chExt cx="451554" cy="2100820"/>
          </a:xfrm>
        </p:grpSpPr>
        <p:sp>
          <p:nvSpPr>
            <p:cNvPr name="Freeform 24" id="24"/>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5" id="25"/>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6" id="26"/>
          <p:cNvGrpSpPr/>
          <p:nvPr/>
        </p:nvGrpSpPr>
        <p:grpSpPr>
          <a:xfrm rot="0">
            <a:off x="15074594" y="3798830"/>
            <a:ext cx="1714493" cy="7976552"/>
            <a:chOff x="0" y="0"/>
            <a:chExt cx="451554" cy="2100820"/>
          </a:xfrm>
        </p:grpSpPr>
        <p:sp>
          <p:nvSpPr>
            <p:cNvPr name="Freeform 27" id="27"/>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8" id="28"/>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9" id="29"/>
          <p:cNvGrpSpPr/>
          <p:nvPr/>
        </p:nvGrpSpPr>
        <p:grpSpPr>
          <a:xfrm rot="0">
            <a:off x="16573507" y="3025441"/>
            <a:ext cx="1714493" cy="7976552"/>
            <a:chOff x="0" y="0"/>
            <a:chExt cx="451554" cy="2100820"/>
          </a:xfrm>
        </p:grpSpPr>
        <p:sp>
          <p:nvSpPr>
            <p:cNvPr name="Freeform 30" id="30"/>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31" id="31"/>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32" id="32"/>
          <p:cNvGrpSpPr/>
          <p:nvPr/>
        </p:nvGrpSpPr>
        <p:grpSpPr>
          <a:xfrm rot="0">
            <a:off x="1030591" y="3482537"/>
            <a:ext cx="9129930" cy="2272386"/>
            <a:chOff x="0" y="0"/>
            <a:chExt cx="2404591" cy="598489"/>
          </a:xfrm>
        </p:grpSpPr>
        <p:sp>
          <p:nvSpPr>
            <p:cNvPr name="Freeform 33" id="33"/>
            <p:cNvSpPr/>
            <p:nvPr/>
          </p:nvSpPr>
          <p:spPr>
            <a:xfrm flipH="false" flipV="false" rot="0">
              <a:off x="0" y="0"/>
              <a:ext cx="2404591" cy="598489"/>
            </a:xfrm>
            <a:custGeom>
              <a:avLst/>
              <a:gdLst/>
              <a:ahLst/>
              <a:cxnLst/>
              <a:rect r="r" b="b" t="t" l="l"/>
              <a:pathLst>
                <a:path h="598489" w="2404591">
                  <a:moveTo>
                    <a:pt x="43247" y="0"/>
                  </a:moveTo>
                  <a:lnTo>
                    <a:pt x="2361344" y="0"/>
                  </a:lnTo>
                  <a:cubicBezTo>
                    <a:pt x="2372814" y="0"/>
                    <a:pt x="2383814" y="4556"/>
                    <a:pt x="2391924" y="12667"/>
                  </a:cubicBezTo>
                  <a:cubicBezTo>
                    <a:pt x="2400034" y="20777"/>
                    <a:pt x="2404591" y="31777"/>
                    <a:pt x="2404591" y="43247"/>
                  </a:cubicBezTo>
                  <a:lnTo>
                    <a:pt x="2404591" y="555242"/>
                  </a:lnTo>
                  <a:cubicBezTo>
                    <a:pt x="2404591" y="579126"/>
                    <a:pt x="2385228" y="598489"/>
                    <a:pt x="2361344" y="598489"/>
                  </a:cubicBezTo>
                  <a:lnTo>
                    <a:pt x="43247" y="598489"/>
                  </a:lnTo>
                  <a:cubicBezTo>
                    <a:pt x="31777" y="598489"/>
                    <a:pt x="20777" y="593932"/>
                    <a:pt x="12667" y="585822"/>
                  </a:cubicBezTo>
                  <a:cubicBezTo>
                    <a:pt x="4556" y="577712"/>
                    <a:pt x="0" y="566712"/>
                    <a:pt x="0" y="555242"/>
                  </a:cubicBezTo>
                  <a:lnTo>
                    <a:pt x="0" y="43247"/>
                  </a:lnTo>
                  <a:cubicBezTo>
                    <a:pt x="0" y="31777"/>
                    <a:pt x="4556" y="20777"/>
                    <a:pt x="12667" y="12667"/>
                  </a:cubicBezTo>
                  <a:cubicBezTo>
                    <a:pt x="20777" y="4556"/>
                    <a:pt x="31777" y="0"/>
                    <a:pt x="43247" y="0"/>
                  </a:cubicBezTo>
                  <a:close/>
                </a:path>
              </a:pathLst>
            </a:custGeom>
            <a:solidFill>
              <a:srgbClr val="191919"/>
            </a:solidFill>
          </p:spPr>
        </p:sp>
        <p:sp>
          <p:nvSpPr>
            <p:cNvPr name="TextBox 34" id="34"/>
            <p:cNvSpPr txBox="true"/>
            <p:nvPr/>
          </p:nvSpPr>
          <p:spPr>
            <a:xfrm>
              <a:off x="0" y="47625"/>
              <a:ext cx="2404591" cy="550864"/>
            </a:xfrm>
            <a:prstGeom prst="rect">
              <a:avLst/>
            </a:prstGeom>
          </p:spPr>
          <p:txBody>
            <a:bodyPr anchor="ctr" rtlCol="false" tIns="50800" lIns="50800" bIns="50800" rIns="50800"/>
            <a:lstStyle/>
            <a:p>
              <a:pPr algn="l">
                <a:lnSpc>
                  <a:spcPts val="1200"/>
                </a:lnSpc>
              </a:pPr>
            </a:p>
          </p:txBody>
        </p:sp>
      </p:grpSp>
      <p:grpSp>
        <p:nvGrpSpPr>
          <p:cNvPr name="Group 35" id="35"/>
          <p:cNvGrpSpPr/>
          <p:nvPr/>
        </p:nvGrpSpPr>
        <p:grpSpPr>
          <a:xfrm rot="0">
            <a:off x="1030591" y="6027623"/>
            <a:ext cx="9129930" cy="2272386"/>
            <a:chOff x="0" y="0"/>
            <a:chExt cx="2404591" cy="598489"/>
          </a:xfrm>
        </p:grpSpPr>
        <p:sp>
          <p:nvSpPr>
            <p:cNvPr name="Freeform 36" id="36"/>
            <p:cNvSpPr/>
            <p:nvPr/>
          </p:nvSpPr>
          <p:spPr>
            <a:xfrm flipH="false" flipV="false" rot="0">
              <a:off x="0" y="0"/>
              <a:ext cx="2404591" cy="598489"/>
            </a:xfrm>
            <a:custGeom>
              <a:avLst/>
              <a:gdLst/>
              <a:ahLst/>
              <a:cxnLst/>
              <a:rect r="r" b="b" t="t" l="l"/>
              <a:pathLst>
                <a:path h="598489" w="2404591">
                  <a:moveTo>
                    <a:pt x="43247" y="0"/>
                  </a:moveTo>
                  <a:lnTo>
                    <a:pt x="2361344" y="0"/>
                  </a:lnTo>
                  <a:cubicBezTo>
                    <a:pt x="2372814" y="0"/>
                    <a:pt x="2383814" y="4556"/>
                    <a:pt x="2391924" y="12667"/>
                  </a:cubicBezTo>
                  <a:cubicBezTo>
                    <a:pt x="2400034" y="20777"/>
                    <a:pt x="2404591" y="31777"/>
                    <a:pt x="2404591" y="43247"/>
                  </a:cubicBezTo>
                  <a:lnTo>
                    <a:pt x="2404591" y="555242"/>
                  </a:lnTo>
                  <a:cubicBezTo>
                    <a:pt x="2404591" y="579126"/>
                    <a:pt x="2385228" y="598489"/>
                    <a:pt x="2361344" y="598489"/>
                  </a:cubicBezTo>
                  <a:lnTo>
                    <a:pt x="43247" y="598489"/>
                  </a:lnTo>
                  <a:cubicBezTo>
                    <a:pt x="31777" y="598489"/>
                    <a:pt x="20777" y="593932"/>
                    <a:pt x="12667" y="585822"/>
                  </a:cubicBezTo>
                  <a:cubicBezTo>
                    <a:pt x="4556" y="577712"/>
                    <a:pt x="0" y="566712"/>
                    <a:pt x="0" y="555242"/>
                  </a:cubicBezTo>
                  <a:lnTo>
                    <a:pt x="0" y="43247"/>
                  </a:lnTo>
                  <a:cubicBezTo>
                    <a:pt x="0" y="31777"/>
                    <a:pt x="4556" y="20777"/>
                    <a:pt x="12667" y="12667"/>
                  </a:cubicBezTo>
                  <a:cubicBezTo>
                    <a:pt x="20777" y="4556"/>
                    <a:pt x="31777" y="0"/>
                    <a:pt x="43247" y="0"/>
                  </a:cubicBezTo>
                  <a:close/>
                </a:path>
              </a:pathLst>
            </a:custGeom>
            <a:solidFill>
              <a:srgbClr val="191919"/>
            </a:solidFill>
          </p:spPr>
        </p:sp>
        <p:sp>
          <p:nvSpPr>
            <p:cNvPr name="TextBox 37" id="37"/>
            <p:cNvSpPr txBox="true"/>
            <p:nvPr/>
          </p:nvSpPr>
          <p:spPr>
            <a:xfrm>
              <a:off x="0" y="47625"/>
              <a:ext cx="2404591" cy="550864"/>
            </a:xfrm>
            <a:prstGeom prst="rect">
              <a:avLst/>
            </a:prstGeom>
          </p:spPr>
          <p:txBody>
            <a:bodyPr anchor="ctr" rtlCol="false" tIns="50800" lIns="50800" bIns="50800" rIns="50800"/>
            <a:lstStyle/>
            <a:p>
              <a:pPr algn="l">
                <a:lnSpc>
                  <a:spcPts val="1200"/>
                </a:lnSpc>
              </a:pPr>
            </a:p>
          </p:txBody>
        </p:sp>
      </p:grpSp>
      <p:sp>
        <p:nvSpPr>
          <p:cNvPr name="Freeform 38" id="38"/>
          <p:cNvSpPr/>
          <p:nvPr/>
        </p:nvSpPr>
        <p:spPr>
          <a:xfrm flipH="false" flipV="false" rot="0">
            <a:off x="12902193" y="0"/>
            <a:ext cx="3478876" cy="4114800"/>
          </a:xfrm>
          <a:custGeom>
            <a:avLst/>
            <a:gdLst/>
            <a:ahLst/>
            <a:cxnLst/>
            <a:rect r="r" b="b" t="t" l="l"/>
            <a:pathLst>
              <a:path h="4114800" w="3478876">
                <a:moveTo>
                  <a:pt x="0" y="0"/>
                </a:moveTo>
                <a:lnTo>
                  <a:pt x="3478877" y="0"/>
                </a:lnTo>
                <a:lnTo>
                  <a:pt x="347887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9" id="39"/>
          <p:cNvSpPr txBox="true"/>
          <p:nvPr/>
        </p:nvSpPr>
        <p:spPr>
          <a:xfrm rot="0">
            <a:off x="1028700" y="1019689"/>
            <a:ext cx="11681056" cy="2020868"/>
          </a:xfrm>
          <a:prstGeom prst="rect">
            <a:avLst/>
          </a:prstGeom>
        </p:spPr>
        <p:txBody>
          <a:bodyPr anchor="t" rtlCol="false" tIns="0" lIns="0" bIns="0" rIns="0">
            <a:spAutoFit/>
          </a:bodyPr>
          <a:lstStyle/>
          <a:p>
            <a:pPr algn="l">
              <a:lnSpc>
                <a:spcPts val="7561"/>
              </a:lnSpc>
            </a:pPr>
            <a:r>
              <a:rPr lang="en-US" sz="7561">
                <a:solidFill>
                  <a:srgbClr val="FFFFFF"/>
                </a:solidFill>
                <a:latin typeface="Poppins"/>
                <a:ea typeface="Poppins"/>
                <a:cs typeface="Poppins"/>
                <a:sym typeface="Poppins"/>
              </a:rPr>
              <a:t>Conclusion &amp; Future D</a:t>
            </a:r>
            <a:r>
              <a:rPr lang="en-US" sz="7561">
                <a:solidFill>
                  <a:srgbClr val="FFFFFF"/>
                </a:solidFill>
                <a:latin typeface="Poppins"/>
                <a:ea typeface="Poppins"/>
                <a:cs typeface="Poppins"/>
                <a:sym typeface="Poppins"/>
              </a:rPr>
              <a:t>irections</a:t>
            </a:r>
          </a:p>
        </p:txBody>
      </p:sp>
      <p:sp>
        <p:nvSpPr>
          <p:cNvPr name="TextBox 40" id="40"/>
          <p:cNvSpPr txBox="true"/>
          <p:nvPr/>
        </p:nvSpPr>
        <p:spPr>
          <a:xfrm rot="0">
            <a:off x="1259818" y="3855980"/>
            <a:ext cx="7748031" cy="597408"/>
          </a:xfrm>
          <a:prstGeom prst="rect">
            <a:avLst/>
          </a:prstGeom>
        </p:spPr>
        <p:txBody>
          <a:bodyPr anchor="t" rtlCol="false" tIns="0" lIns="0" bIns="0" rIns="0">
            <a:spAutoFit/>
          </a:bodyPr>
          <a:lstStyle/>
          <a:p>
            <a:pPr algn="l">
              <a:lnSpc>
                <a:spcPts val="2376"/>
              </a:lnSpc>
            </a:pPr>
            <a:r>
              <a:rPr lang="en-US" b="true" sz="2400">
                <a:gradFill>
                  <a:gsLst>
                    <a:gs pos="0">
                      <a:srgbClr val="FF3131">
                        <a:alpha val="100000"/>
                      </a:srgbClr>
                    </a:gs>
                    <a:gs pos="100000">
                      <a:srgbClr val="FF914D">
                        <a:alpha val="100000"/>
                      </a:srgbClr>
                    </a:gs>
                  </a:gsLst>
                  <a:lin ang="0"/>
                </a:gradFill>
                <a:latin typeface="Montserrat Bold"/>
                <a:ea typeface="Montserrat Bold"/>
                <a:cs typeface="Montserrat Bold"/>
                <a:sym typeface="Montserrat Bold"/>
              </a:rPr>
              <a:t>K</a:t>
            </a:r>
            <a:r>
              <a:rPr lang="en-US" b="true" sz="2400">
                <a:gradFill>
                  <a:gsLst>
                    <a:gs pos="0">
                      <a:srgbClr val="FF3131">
                        <a:alpha val="100000"/>
                      </a:srgbClr>
                    </a:gs>
                    <a:gs pos="100000">
                      <a:srgbClr val="FF914D">
                        <a:alpha val="100000"/>
                      </a:srgbClr>
                    </a:gs>
                  </a:gsLst>
                  <a:lin ang="0"/>
                </a:gradFill>
                <a:latin typeface="Montserrat Bold"/>
                <a:ea typeface="Montserrat Bold"/>
                <a:cs typeface="Montserrat Bold"/>
                <a:sym typeface="Montserrat Bold"/>
              </a:rPr>
              <a:t>ey Takeaway</a:t>
            </a:r>
          </a:p>
          <a:p>
            <a:pPr algn="l">
              <a:lnSpc>
                <a:spcPts val="2376"/>
              </a:lnSpc>
            </a:pPr>
          </a:p>
        </p:txBody>
      </p:sp>
      <p:sp>
        <p:nvSpPr>
          <p:cNvPr name="TextBox 41" id="41"/>
          <p:cNvSpPr txBox="true"/>
          <p:nvPr/>
        </p:nvSpPr>
        <p:spPr>
          <a:xfrm rot="0">
            <a:off x="1259818" y="4350531"/>
            <a:ext cx="8671477" cy="1327326"/>
          </a:xfrm>
          <a:prstGeom prst="rect">
            <a:avLst/>
          </a:prstGeom>
        </p:spPr>
        <p:txBody>
          <a:bodyPr anchor="t" rtlCol="false" tIns="0" lIns="0" bIns="0" rIns="0">
            <a:spAutoFit/>
          </a:bodyPr>
          <a:lstStyle/>
          <a:p>
            <a:pPr algn="just">
              <a:lnSpc>
                <a:spcPts val="2631"/>
              </a:lnSpc>
              <a:spcBef>
                <a:spcPct val="0"/>
              </a:spcBef>
            </a:pPr>
            <a:r>
              <a:rPr lang="en-US" sz="1879">
                <a:solidFill>
                  <a:srgbClr val="FFFFFF"/>
                </a:solidFill>
                <a:latin typeface="Montserrat"/>
                <a:ea typeface="Montserrat"/>
                <a:cs typeface="Montserrat"/>
                <a:sym typeface="Montserrat"/>
              </a:rPr>
              <a:t>Pr</a:t>
            </a:r>
            <a:r>
              <a:rPr lang="en-US" sz="1879">
                <a:solidFill>
                  <a:srgbClr val="FFFFFF"/>
                </a:solidFill>
                <a:latin typeface="Montserrat"/>
                <a:ea typeface="Montserrat"/>
                <a:cs typeface="Montserrat"/>
                <a:sym typeface="Montserrat"/>
              </a:rPr>
              <a:t>ompt robustness is as critical as raw accuracy for real-world AI deployment. Models must withstand adversarial input while maintaining functionality.</a:t>
            </a:r>
          </a:p>
          <a:p>
            <a:pPr algn="just">
              <a:lnSpc>
                <a:spcPts val="2631"/>
              </a:lnSpc>
              <a:spcBef>
                <a:spcPct val="0"/>
              </a:spcBef>
            </a:pPr>
          </a:p>
        </p:txBody>
      </p:sp>
      <p:sp>
        <p:nvSpPr>
          <p:cNvPr name="TextBox 42" id="42"/>
          <p:cNvSpPr txBox="true"/>
          <p:nvPr/>
        </p:nvSpPr>
        <p:spPr>
          <a:xfrm rot="0">
            <a:off x="1326017" y="6250223"/>
            <a:ext cx="7748031" cy="597408"/>
          </a:xfrm>
          <a:prstGeom prst="rect">
            <a:avLst/>
          </a:prstGeom>
        </p:spPr>
        <p:txBody>
          <a:bodyPr anchor="t" rtlCol="false" tIns="0" lIns="0" bIns="0" rIns="0">
            <a:spAutoFit/>
          </a:bodyPr>
          <a:lstStyle/>
          <a:p>
            <a:pPr algn="l">
              <a:lnSpc>
                <a:spcPts val="2376"/>
              </a:lnSpc>
            </a:pPr>
            <a:r>
              <a:rPr lang="en-US" b="true" sz="2400">
                <a:gradFill>
                  <a:gsLst>
                    <a:gs pos="0">
                      <a:srgbClr val="FF3131">
                        <a:alpha val="100000"/>
                      </a:srgbClr>
                    </a:gs>
                    <a:gs pos="100000">
                      <a:srgbClr val="FF914D">
                        <a:alpha val="100000"/>
                      </a:srgbClr>
                    </a:gs>
                  </a:gsLst>
                  <a:lin ang="0"/>
                </a:gradFill>
                <a:latin typeface="Montserrat Bold"/>
                <a:ea typeface="Montserrat Bold"/>
                <a:cs typeface="Montserrat Bold"/>
                <a:sym typeface="Montserrat Bold"/>
              </a:rPr>
              <a:t>Future Scope</a:t>
            </a:r>
          </a:p>
          <a:p>
            <a:pPr algn="l">
              <a:lnSpc>
                <a:spcPts val="2376"/>
              </a:lnSpc>
            </a:pPr>
          </a:p>
        </p:txBody>
      </p:sp>
      <p:sp>
        <p:nvSpPr>
          <p:cNvPr name="TextBox 43" id="43"/>
          <p:cNvSpPr txBox="true"/>
          <p:nvPr/>
        </p:nvSpPr>
        <p:spPr>
          <a:xfrm rot="0">
            <a:off x="1259818" y="6648338"/>
            <a:ext cx="8671477" cy="1661570"/>
          </a:xfrm>
          <a:prstGeom prst="rect">
            <a:avLst/>
          </a:prstGeom>
        </p:spPr>
        <p:txBody>
          <a:bodyPr anchor="t" rtlCol="false" tIns="0" lIns="0" bIns="0" rIns="0">
            <a:spAutoFit/>
          </a:bodyPr>
          <a:lstStyle/>
          <a:p>
            <a:pPr algn="just" marL="405867" indent="-202934" lvl="1">
              <a:lnSpc>
                <a:spcPts val="2631"/>
              </a:lnSpc>
              <a:spcBef>
                <a:spcPct val="0"/>
              </a:spcBef>
              <a:buFont typeface="Arial"/>
              <a:buChar char="•"/>
            </a:pPr>
            <a:r>
              <a:rPr lang="en-US" sz="1879">
                <a:solidFill>
                  <a:srgbClr val="FFFFFF"/>
                </a:solidFill>
                <a:latin typeface="Montserrat"/>
                <a:ea typeface="Montserrat"/>
                <a:cs typeface="Montserrat"/>
                <a:sym typeface="Montserrat"/>
              </a:rPr>
              <a:t>Adding</a:t>
            </a:r>
            <a:r>
              <a:rPr lang="en-US" sz="1879">
                <a:solidFill>
                  <a:srgbClr val="FFFFFF"/>
                </a:solidFill>
                <a:latin typeface="Montserrat"/>
                <a:ea typeface="Montserrat"/>
                <a:cs typeface="Montserrat"/>
                <a:sym typeface="Montserrat"/>
              </a:rPr>
              <a:t> semantic paraphrasing attacks</a:t>
            </a:r>
          </a:p>
          <a:p>
            <a:pPr algn="just" marL="405867" indent="-202934" lvl="1">
              <a:lnSpc>
                <a:spcPts val="2631"/>
              </a:lnSpc>
              <a:spcBef>
                <a:spcPct val="0"/>
              </a:spcBef>
              <a:buFont typeface="Arial"/>
              <a:buChar char="•"/>
            </a:pPr>
            <a:r>
              <a:rPr lang="en-US" sz="1879">
                <a:solidFill>
                  <a:srgbClr val="FFFFFF"/>
                </a:solidFill>
                <a:latin typeface="Montserrat"/>
                <a:ea typeface="Montserrat"/>
                <a:cs typeface="Montserrat"/>
                <a:sym typeface="Montserrat"/>
              </a:rPr>
              <a:t>Expanding model library to open-source variants</a:t>
            </a:r>
          </a:p>
          <a:p>
            <a:pPr algn="just" marL="405867" indent="-202934" lvl="1">
              <a:lnSpc>
                <a:spcPts val="2631"/>
              </a:lnSpc>
              <a:spcBef>
                <a:spcPct val="0"/>
              </a:spcBef>
              <a:buFont typeface="Arial"/>
              <a:buChar char="•"/>
            </a:pPr>
            <a:r>
              <a:rPr lang="en-US" sz="1879">
                <a:solidFill>
                  <a:srgbClr val="FFFFFF"/>
                </a:solidFill>
                <a:latin typeface="Montserrat"/>
                <a:ea typeface="Montserrat"/>
                <a:cs typeface="Montserrat"/>
                <a:sym typeface="Montserrat"/>
              </a:rPr>
              <a:t>Integrating more perturbation types</a:t>
            </a:r>
          </a:p>
          <a:p>
            <a:pPr algn="just" marL="405867" indent="-202934" lvl="1">
              <a:lnSpc>
                <a:spcPts val="2631"/>
              </a:lnSpc>
              <a:spcBef>
                <a:spcPct val="0"/>
              </a:spcBef>
              <a:buFont typeface="Arial"/>
              <a:buChar char="•"/>
            </a:pPr>
            <a:r>
              <a:rPr lang="en-US" sz="1879">
                <a:solidFill>
                  <a:srgbClr val="FFFFFF"/>
                </a:solidFill>
                <a:latin typeface="Montserrat"/>
                <a:ea typeface="Montserrat"/>
                <a:cs typeface="Montserrat"/>
                <a:sym typeface="Montserrat"/>
              </a:rPr>
              <a:t>Enhanced visualization capabilities</a:t>
            </a:r>
          </a:p>
          <a:p>
            <a:pPr algn="just">
              <a:lnSpc>
                <a:spcPts val="2631"/>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3008620" y="9841489"/>
            <a:ext cx="1714493" cy="7976552"/>
            <a:chOff x="0" y="0"/>
            <a:chExt cx="451554" cy="2100820"/>
          </a:xfrm>
        </p:grpSpPr>
        <p:sp>
          <p:nvSpPr>
            <p:cNvPr name="Freeform 3" id="3"/>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4" id="4"/>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5" id="5"/>
          <p:cNvGrpSpPr/>
          <p:nvPr/>
        </p:nvGrpSpPr>
        <p:grpSpPr>
          <a:xfrm rot="0">
            <a:off x="4507533" y="9068100"/>
            <a:ext cx="1714493" cy="7976552"/>
            <a:chOff x="0" y="0"/>
            <a:chExt cx="451554" cy="2100820"/>
          </a:xfrm>
        </p:grpSpPr>
        <p:sp>
          <p:nvSpPr>
            <p:cNvPr name="Freeform 6" id="6"/>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7" id="7"/>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8" id="8"/>
          <p:cNvGrpSpPr/>
          <p:nvPr/>
        </p:nvGrpSpPr>
        <p:grpSpPr>
          <a:xfrm rot="0">
            <a:off x="6076222" y="8572708"/>
            <a:ext cx="1714493" cy="7976552"/>
            <a:chOff x="0" y="0"/>
            <a:chExt cx="451554" cy="2100820"/>
          </a:xfrm>
        </p:grpSpPr>
        <p:sp>
          <p:nvSpPr>
            <p:cNvPr name="Freeform 9" id="9"/>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0" id="10"/>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1" id="11"/>
          <p:cNvGrpSpPr/>
          <p:nvPr/>
        </p:nvGrpSpPr>
        <p:grpSpPr>
          <a:xfrm rot="0">
            <a:off x="7575135" y="7799320"/>
            <a:ext cx="1714493" cy="7976552"/>
            <a:chOff x="0" y="0"/>
            <a:chExt cx="451554" cy="2100820"/>
          </a:xfrm>
        </p:grpSpPr>
        <p:sp>
          <p:nvSpPr>
            <p:cNvPr name="Freeform 12" id="12"/>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3" id="13"/>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4" id="14"/>
          <p:cNvGrpSpPr/>
          <p:nvPr/>
        </p:nvGrpSpPr>
        <p:grpSpPr>
          <a:xfrm rot="0">
            <a:off x="9074048" y="7025931"/>
            <a:ext cx="1714493" cy="7976552"/>
            <a:chOff x="0" y="0"/>
            <a:chExt cx="451554" cy="2100820"/>
          </a:xfrm>
        </p:grpSpPr>
        <p:sp>
          <p:nvSpPr>
            <p:cNvPr name="Freeform 15" id="15"/>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6" id="16"/>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17" id="17"/>
          <p:cNvGrpSpPr/>
          <p:nvPr/>
        </p:nvGrpSpPr>
        <p:grpSpPr>
          <a:xfrm rot="0">
            <a:off x="10577855" y="6118995"/>
            <a:ext cx="1714493" cy="7976552"/>
            <a:chOff x="0" y="0"/>
            <a:chExt cx="451554" cy="2100820"/>
          </a:xfrm>
        </p:grpSpPr>
        <p:sp>
          <p:nvSpPr>
            <p:cNvPr name="Freeform 18" id="18"/>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19" id="19"/>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0" id="20"/>
          <p:cNvGrpSpPr/>
          <p:nvPr/>
        </p:nvGrpSpPr>
        <p:grpSpPr>
          <a:xfrm rot="0">
            <a:off x="12076768" y="5345606"/>
            <a:ext cx="1714493" cy="7976552"/>
            <a:chOff x="0" y="0"/>
            <a:chExt cx="451554" cy="2100820"/>
          </a:xfrm>
        </p:grpSpPr>
        <p:sp>
          <p:nvSpPr>
            <p:cNvPr name="Freeform 21" id="21"/>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2" id="22"/>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3" id="23"/>
          <p:cNvGrpSpPr/>
          <p:nvPr/>
        </p:nvGrpSpPr>
        <p:grpSpPr>
          <a:xfrm rot="0">
            <a:off x="13575681" y="4572218"/>
            <a:ext cx="1714493" cy="7976552"/>
            <a:chOff x="0" y="0"/>
            <a:chExt cx="451554" cy="2100820"/>
          </a:xfrm>
        </p:grpSpPr>
        <p:sp>
          <p:nvSpPr>
            <p:cNvPr name="Freeform 24" id="24"/>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5" id="25"/>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6" id="26"/>
          <p:cNvGrpSpPr/>
          <p:nvPr/>
        </p:nvGrpSpPr>
        <p:grpSpPr>
          <a:xfrm rot="0">
            <a:off x="15074594" y="3798830"/>
            <a:ext cx="1714493" cy="7976552"/>
            <a:chOff x="0" y="0"/>
            <a:chExt cx="451554" cy="2100820"/>
          </a:xfrm>
        </p:grpSpPr>
        <p:sp>
          <p:nvSpPr>
            <p:cNvPr name="Freeform 27" id="27"/>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28" id="28"/>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29" id="29"/>
          <p:cNvGrpSpPr/>
          <p:nvPr/>
        </p:nvGrpSpPr>
        <p:grpSpPr>
          <a:xfrm rot="0">
            <a:off x="16573507" y="3025441"/>
            <a:ext cx="1714493" cy="7976552"/>
            <a:chOff x="0" y="0"/>
            <a:chExt cx="451554" cy="2100820"/>
          </a:xfrm>
        </p:grpSpPr>
        <p:sp>
          <p:nvSpPr>
            <p:cNvPr name="Freeform 30" id="30"/>
            <p:cNvSpPr/>
            <p:nvPr/>
          </p:nvSpPr>
          <p:spPr>
            <a:xfrm flipH="false" flipV="false" rot="0">
              <a:off x="0" y="0"/>
              <a:ext cx="451554" cy="2100820"/>
            </a:xfrm>
            <a:custGeom>
              <a:avLst/>
              <a:gdLst/>
              <a:ahLst/>
              <a:cxnLst/>
              <a:rect r="r" b="b" t="t" l="l"/>
              <a:pathLst>
                <a:path h="2100820" w="451554">
                  <a:moveTo>
                    <a:pt x="0" y="0"/>
                  </a:moveTo>
                  <a:lnTo>
                    <a:pt x="451554" y="0"/>
                  </a:lnTo>
                  <a:lnTo>
                    <a:pt x="451554" y="2100820"/>
                  </a:lnTo>
                  <a:lnTo>
                    <a:pt x="0" y="2100820"/>
                  </a:lnTo>
                  <a:close/>
                </a:path>
              </a:pathLst>
            </a:custGeom>
            <a:gradFill rotWithShape="true">
              <a:gsLst>
                <a:gs pos="0">
                  <a:srgbClr val="000000">
                    <a:alpha val="100000"/>
                  </a:srgbClr>
                </a:gs>
                <a:gs pos="100000">
                  <a:srgbClr val="EE581E">
                    <a:alpha val="100000"/>
                  </a:srgbClr>
                </a:gs>
              </a:gsLst>
              <a:lin ang="5400000"/>
            </a:gradFill>
          </p:spPr>
        </p:sp>
        <p:sp>
          <p:nvSpPr>
            <p:cNvPr name="TextBox 31" id="31"/>
            <p:cNvSpPr txBox="true"/>
            <p:nvPr/>
          </p:nvSpPr>
          <p:spPr>
            <a:xfrm>
              <a:off x="0" y="47625"/>
              <a:ext cx="451554" cy="2053195"/>
            </a:xfrm>
            <a:prstGeom prst="rect">
              <a:avLst/>
            </a:prstGeom>
          </p:spPr>
          <p:txBody>
            <a:bodyPr anchor="ctr" rtlCol="false" tIns="50800" lIns="50800" bIns="50800" rIns="50800"/>
            <a:lstStyle/>
            <a:p>
              <a:pPr algn="ctr">
                <a:lnSpc>
                  <a:spcPts val="1200"/>
                </a:lnSpc>
              </a:pPr>
            </a:p>
          </p:txBody>
        </p:sp>
      </p:grpSp>
      <p:grpSp>
        <p:nvGrpSpPr>
          <p:cNvPr name="Group 32" id="32"/>
          <p:cNvGrpSpPr/>
          <p:nvPr/>
        </p:nvGrpSpPr>
        <p:grpSpPr>
          <a:xfrm rot="0">
            <a:off x="1028700" y="4396909"/>
            <a:ext cx="6845482" cy="433694"/>
            <a:chOff x="0" y="0"/>
            <a:chExt cx="1802925" cy="114224"/>
          </a:xfrm>
        </p:grpSpPr>
        <p:sp>
          <p:nvSpPr>
            <p:cNvPr name="Freeform 33" id="33"/>
            <p:cNvSpPr/>
            <p:nvPr/>
          </p:nvSpPr>
          <p:spPr>
            <a:xfrm flipH="false" flipV="false" rot="0">
              <a:off x="0" y="0"/>
              <a:ext cx="1802925" cy="114224"/>
            </a:xfrm>
            <a:custGeom>
              <a:avLst/>
              <a:gdLst/>
              <a:ahLst/>
              <a:cxnLst/>
              <a:rect r="r" b="b" t="t" l="l"/>
              <a:pathLst>
                <a:path h="114224" w="1802925">
                  <a:moveTo>
                    <a:pt x="57112" y="0"/>
                  </a:moveTo>
                  <a:lnTo>
                    <a:pt x="1745813" y="0"/>
                  </a:lnTo>
                  <a:cubicBezTo>
                    <a:pt x="1760960" y="0"/>
                    <a:pt x="1775487" y="6017"/>
                    <a:pt x="1786198" y="16728"/>
                  </a:cubicBezTo>
                  <a:cubicBezTo>
                    <a:pt x="1796908" y="27438"/>
                    <a:pt x="1802925" y="41965"/>
                    <a:pt x="1802925" y="57112"/>
                  </a:cubicBezTo>
                  <a:lnTo>
                    <a:pt x="1802925" y="57112"/>
                  </a:lnTo>
                  <a:cubicBezTo>
                    <a:pt x="1802925" y="88654"/>
                    <a:pt x="1777355" y="114224"/>
                    <a:pt x="1745813" y="114224"/>
                  </a:cubicBezTo>
                  <a:lnTo>
                    <a:pt x="57112" y="114224"/>
                  </a:lnTo>
                  <a:cubicBezTo>
                    <a:pt x="41965" y="114224"/>
                    <a:pt x="27438" y="108207"/>
                    <a:pt x="16728" y="97496"/>
                  </a:cubicBezTo>
                  <a:cubicBezTo>
                    <a:pt x="6017" y="86786"/>
                    <a:pt x="0" y="72259"/>
                    <a:pt x="0" y="57112"/>
                  </a:cubicBezTo>
                  <a:lnTo>
                    <a:pt x="0" y="57112"/>
                  </a:lnTo>
                  <a:cubicBezTo>
                    <a:pt x="0" y="41965"/>
                    <a:pt x="6017" y="27438"/>
                    <a:pt x="16728" y="16728"/>
                  </a:cubicBezTo>
                  <a:cubicBezTo>
                    <a:pt x="27438" y="6017"/>
                    <a:pt x="41965" y="0"/>
                    <a:pt x="57112" y="0"/>
                  </a:cubicBezTo>
                  <a:close/>
                </a:path>
              </a:pathLst>
            </a:custGeom>
            <a:solidFill>
              <a:srgbClr val="191919"/>
            </a:solidFill>
          </p:spPr>
        </p:sp>
        <p:sp>
          <p:nvSpPr>
            <p:cNvPr name="TextBox 34" id="34"/>
            <p:cNvSpPr txBox="true"/>
            <p:nvPr/>
          </p:nvSpPr>
          <p:spPr>
            <a:xfrm>
              <a:off x="0" y="47625"/>
              <a:ext cx="1802925" cy="66599"/>
            </a:xfrm>
            <a:prstGeom prst="rect">
              <a:avLst/>
            </a:prstGeom>
          </p:spPr>
          <p:txBody>
            <a:bodyPr anchor="ctr" rtlCol="false" tIns="50800" lIns="50800" bIns="50800" rIns="50800"/>
            <a:lstStyle/>
            <a:p>
              <a:pPr algn="ctr">
                <a:lnSpc>
                  <a:spcPts val="1200"/>
                </a:lnSpc>
              </a:pPr>
            </a:p>
          </p:txBody>
        </p:sp>
      </p:grpSp>
      <p:sp>
        <p:nvSpPr>
          <p:cNvPr name="TextBox 35" id="35"/>
          <p:cNvSpPr txBox="true"/>
          <p:nvPr/>
        </p:nvSpPr>
        <p:spPr>
          <a:xfrm rot="0">
            <a:off x="1028700" y="2971335"/>
            <a:ext cx="9825769" cy="1425574"/>
          </a:xfrm>
          <a:prstGeom prst="rect">
            <a:avLst/>
          </a:prstGeom>
        </p:spPr>
        <p:txBody>
          <a:bodyPr anchor="t" rtlCol="false" tIns="0" lIns="0" bIns="0" rIns="0">
            <a:spAutoFit/>
          </a:bodyPr>
          <a:lstStyle/>
          <a:p>
            <a:pPr algn="l">
              <a:lnSpc>
                <a:spcPts val="9999"/>
              </a:lnSpc>
            </a:pPr>
            <a:r>
              <a:rPr lang="en-US" sz="9999">
                <a:solidFill>
                  <a:srgbClr val="FFFFFF"/>
                </a:solidFill>
                <a:latin typeface="Poppins"/>
                <a:ea typeface="Poppins"/>
                <a:cs typeface="Poppins"/>
                <a:sym typeface="Poppins"/>
              </a:rPr>
              <a:t>Th</a:t>
            </a:r>
            <a:r>
              <a:rPr lang="en-US" sz="9999">
                <a:solidFill>
                  <a:srgbClr val="FFFFFF"/>
                </a:solidFill>
                <a:latin typeface="Poppins"/>
                <a:ea typeface="Poppins"/>
                <a:cs typeface="Poppins"/>
                <a:sym typeface="Poppins"/>
              </a:rPr>
              <a:t>ank You</a:t>
            </a:r>
          </a:p>
        </p:txBody>
      </p:sp>
      <p:grpSp>
        <p:nvGrpSpPr>
          <p:cNvPr name="Group 36" id="36"/>
          <p:cNvGrpSpPr/>
          <p:nvPr/>
        </p:nvGrpSpPr>
        <p:grpSpPr>
          <a:xfrm rot="5400000">
            <a:off x="-1170425" y="6259976"/>
            <a:ext cx="4941394" cy="8651407"/>
            <a:chOff x="0" y="0"/>
            <a:chExt cx="2421237" cy="4239109"/>
          </a:xfrm>
        </p:grpSpPr>
        <p:sp>
          <p:nvSpPr>
            <p:cNvPr name="Freeform 37" id="37"/>
            <p:cNvSpPr/>
            <p:nvPr/>
          </p:nvSpPr>
          <p:spPr>
            <a:xfrm flipH="false" flipV="false" rot="0">
              <a:off x="0" y="0"/>
              <a:ext cx="2421237" cy="4239109"/>
            </a:xfrm>
            <a:custGeom>
              <a:avLst/>
              <a:gdLst/>
              <a:ahLst/>
              <a:cxnLst/>
              <a:rect r="r" b="b" t="t" l="l"/>
              <a:pathLst>
                <a:path h="4239109" w="2421237">
                  <a:moveTo>
                    <a:pt x="0" y="0"/>
                  </a:moveTo>
                  <a:lnTo>
                    <a:pt x="2421237" y="0"/>
                  </a:lnTo>
                  <a:lnTo>
                    <a:pt x="2421237" y="4239109"/>
                  </a:lnTo>
                  <a:lnTo>
                    <a:pt x="0" y="4239109"/>
                  </a:lnTo>
                  <a:close/>
                </a:path>
              </a:pathLst>
            </a:custGeom>
            <a:gradFill rotWithShape="true">
              <a:gsLst>
                <a:gs pos="0">
                  <a:srgbClr val="000000">
                    <a:alpha val="100000"/>
                  </a:srgbClr>
                </a:gs>
                <a:gs pos="100000">
                  <a:srgbClr val="EE581E">
                    <a:alpha val="100000"/>
                  </a:srgbClr>
                </a:gs>
              </a:gsLst>
              <a:lin ang="5400000"/>
            </a:gradFill>
          </p:spPr>
        </p:sp>
        <p:sp>
          <p:nvSpPr>
            <p:cNvPr name="TextBox 38" id="38"/>
            <p:cNvSpPr txBox="true"/>
            <p:nvPr/>
          </p:nvSpPr>
          <p:spPr>
            <a:xfrm>
              <a:off x="0" y="47625"/>
              <a:ext cx="2421237" cy="4191484"/>
            </a:xfrm>
            <a:prstGeom prst="rect">
              <a:avLst/>
            </a:prstGeom>
          </p:spPr>
          <p:txBody>
            <a:bodyPr anchor="ctr" rtlCol="false" tIns="50800" lIns="50800" bIns="50800" rIns="50800"/>
            <a:lstStyle/>
            <a:p>
              <a:pPr algn="ctr">
                <a:lnSpc>
                  <a:spcPts val="1200"/>
                </a:lnSpc>
              </a:pPr>
            </a:p>
          </p:txBody>
        </p:sp>
      </p:grpSp>
      <p:grpSp>
        <p:nvGrpSpPr>
          <p:cNvPr name="Group 39" id="39"/>
          <p:cNvGrpSpPr/>
          <p:nvPr/>
        </p:nvGrpSpPr>
        <p:grpSpPr>
          <a:xfrm rot="0">
            <a:off x="10302774" y="1257300"/>
            <a:ext cx="6956526" cy="7886700"/>
            <a:chOff x="0" y="0"/>
            <a:chExt cx="1077748" cy="1221856"/>
          </a:xfrm>
        </p:grpSpPr>
        <p:sp>
          <p:nvSpPr>
            <p:cNvPr name="Freeform 40" id="40"/>
            <p:cNvSpPr/>
            <p:nvPr/>
          </p:nvSpPr>
          <p:spPr>
            <a:xfrm flipH="false" flipV="false" rot="0">
              <a:off x="0" y="0"/>
              <a:ext cx="1077748" cy="1221856"/>
            </a:xfrm>
            <a:custGeom>
              <a:avLst/>
              <a:gdLst/>
              <a:ahLst/>
              <a:cxnLst/>
              <a:rect r="r" b="b" t="t" l="l"/>
              <a:pathLst>
                <a:path h="1221856" w="1077748">
                  <a:moveTo>
                    <a:pt x="0" y="0"/>
                  </a:moveTo>
                  <a:lnTo>
                    <a:pt x="1077748" y="0"/>
                  </a:lnTo>
                  <a:lnTo>
                    <a:pt x="1077748" y="1221856"/>
                  </a:lnTo>
                  <a:lnTo>
                    <a:pt x="0" y="1221856"/>
                  </a:lnTo>
                  <a:close/>
                </a:path>
              </a:pathLst>
            </a:custGeom>
            <a:blipFill>
              <a:blip r:embed="rId2"/>
              <a:stretch>
                <a:fillRect l="-8935" t="0" r="-8935" b="0"/>
              </a:stretch>
            </a:blipFill>
            <a:ln w="57150" cap="sq">
              <a:gradFill>
                <a:gsLst>
                  <a:gs pos="0">
                    <a:srgbClr val="EE581E">
                      <a:alpha val="100000"/>
                    </a:srgbClr>
                  </a:gs>
                  <a:gs pos="100000">
                    <a:srgbClr val="000000">
                      <a:alpha val="100000"/>
                    </a:srgbClr>
                  </a:gs>
                </a:gsLst>
                <a:lin ang="5400000"/>
              </a:gradFill>
              <a:prstDash val="solid"/>
              <a:miter/>
            </a:ln>
          </p:spPr>
        </p:sp>
      </p:grpSp>
      <p:sp>
        <p:nvSpPr>
          <p:cNvPr name="TextBox 41" id="41"/>
          <p:cNvSpPr txBox="true"/>
          <p:nvPr/>
        </p:nvSpPr>
        <p:spPr>
          <a:xfrm rot="0">
            <a:off x="1300272" y="4491265"/>
            <a:ext cx="6414522" cy="302133"/>
          </a:xfrm>
          <a:prstGeom prst="rect">
            <a:avLst/>
          </a:prstGeom>
        </p:spPr>
        <p:txBody>
          <a:bodyPr anchor="t" rtlCol="false" tIns="0" lIns="0" bIns="0" rIns="0">
            <a:spAutoFit/>
          </a:bodyPr>
          <a:lstStyle/>
          <a:p>
            <a:pPr algn="ctr">
              <a:lnSpc>
                <a:spcPts val="2376"/>
              </a:lnSpc>
            </a:pPr>
            <a:r>
              <a:rPr lang="en-US" sz="2400">
                <a:solidFill>
                  <a:srgbClr val="FFFFFF"/>
                </a:solidFill>
                <a:latin typeface="Montserrat"/>
                <a:ea typeface="Montserrat"/>
                <a:cs typeface="Montserrat"/>
                <a:sym typeface="Montserrat"/>
              </a:rPr>
              <a:t>Qu</a:t>
            </a:r>
            <a:r>
              <a:rPr lang="en-US" sz="2400">
                <a:solidFill>
                  <a:srgbClr val="FFFFFF"/>
                </a:solidFill>
                <a:latin typeface="Montserrat"/>
                <a:ea typeface="Montserrat"/>
                <a:cs typeface="Montserrat"/>
                <a:sym typeface="Montserrat"/>
              </a:rPr>
              <a:t>estions and discussion are welcome</a:t>
            </a:r>
          </a:p>
        </p:txBody>
      </p:sp>
    </p:spTree>
  </p:cSld>
  <p:clrMapOvr>
    <a:masterClrMapping/>
  </p:clrMapOvr>
  <p:transition spd="fast">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DAHIBTh9_Ag</dc:identifier>
  <dcterms:modified xsi:type="dcterms:W3CDTF">2011-08-01T06:04:30Z</dcterms:modified>
  <cp:revision>1</cp:revision>
  <dc:title>Orange Modern AI Skills Presentation</dc:title>
</cp:coreProperties>
</file>